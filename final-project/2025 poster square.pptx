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"/>
  </p:notesMasterIdLst>
  <p:sldIdLst>
    <p:sldId id="257" r:id="rId2"/>
  </p:sldIdLst>
  <p:sldSz cx="38404800" cy="3840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B20D0D-70C5-44DE-9EF3-389C7CCA451A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120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B6D2"/>
    <a:srgbClr val="ECDEC3"/>
    <a:srgbClr val="FF7F0F"/>
    <a:srgbClr val="AB6152"/>
    <a:srgbClr val="D29B8C"/>
    <a:srgbClr val="00A3FF"/>
    <a:srgbClr val="0000FF"/>
    <a:srgbClr val="00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6" autoAdjust="0"/>
    <p:restoredTop sz="96159" autoAdjust="0"/>
  </p:normalViewPr>
  <p:slideViewPr>
    <p:cSldViewPr snapToGrid="0">
      <p:cViewPr>
        <p:scale>
          <a:sx n="72" d="100"/>
          <a:sy n="72" d="100"/>
        </p:scale>
        <p:origin x="-264" y="-7904"/>
      </p:cViewPr>
      <p:guideLst>
        <p:guide orient="horz" pos="4032"/>
        <p:guide pos="120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197"/>
    </p:cViewPr>
  </p:sorterViewPr>
  <p:notesViewPr>
    <p:cSldViewPr snapToGrid="0">
      <p:cViewPr varScale="1">
        <p:scale>
          <a:sx n="85" d="100"/>
          <a:sy n="85" d="100"/>
        </p:scale>
        <p:origin x="3802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Wang" userId="f4c50068-7d02-45ec-bb0a-09a266b6da3e" providerId="ADAL" clId="{1158A251-B21B-5993-B2AC-2CB2C4D28EA1}"/>
    <pc:docChg chg="modSld">
      <pc:chgData name="Emma Wang" userId="f4c50068-7d02-45ec-bb0a-09a266b6da3e" providerId="ADAL" clId="{1158A251-B21B-5993-B2AC-2CB2C4D28EA1}" dt="2025-09-15T01:45:50.772" v="0" actId="1076"/>
      <pc:docMkLst>
        <pc:docMk/>
      </pc:docMkLst>
      <pc:sldChg chg="modSp mod">
        <pc:chgData name="Emma Wang" userId="f4c50068-7d02-45ec-bb0a-09a266b6da3e" providerId="ADAL" clId="{1158A251-B21B-5993-B2AC-2CB2C4D28EA1}" dt="2025-09-15T01:45:50.772" v="0" actId="1076"/>
        <pc:sldMkLst>
          <pc:docMk/>
          <pc:sldMk cId="1687577007" sldId="257"/>
        </pc:sldMkLst>
        <pc:grpChg chg="mod">
          <ac:chgData name="Emma Wang" userId="f4c50068-7d02-45ec-bb0a-09a266b6da3e" providerId="ADAL" clId="{1158A251-B21B-5993-B2AC-2CB2C4D28EA1}" dt="2025-09-15T01:45:50.772" v="0" actId="1076"/>
          <ac:grpSpMkLst>
            <pc:docMk/>
            <pc:sldMk cId="1687577007" sldId="257"/>
            <ac:grpSpMk id="2065" creationId="{AC7F2D44-B0B1-F451-86F2-F648D6DA0032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3788A-05FE-4109-A418-E0E374C160ED}" type="datetimeFigureOut">
              <a:rPr lang="en-US" smtClean="0"/>
              <a:t>9/14/25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BBA48-0394-4184-99A0-E181FC92B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24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312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624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29936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248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6561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59873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3184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6496" algn="l" defTabSz="3686624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BBA48-0394-4184-99A0-E181FC92B4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06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6285233"/>
            <a:ext cx="32644080" cy="13370560"/>
          </a:xfrm>
        </p:spPr>
        <p:txBody>
          <a:bodyPr anchor="b"/>
          <a:lstStyle>
            <a:lvl1pPr algn="ctr"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20171413"/>
            <a:ext cx="28803600" cy="9272267"/>
          </a:xfrm>
        </p:spPr>
        <p:txBody>
          <a:bodyPr/>
          <a:lstStyle>
            <a:lvl1pPr marL="0" indent="0" algn="ctr">
              <a:buNone/>
              <a:defRPr sz="10080"/>
            </a:lvl1pPr>
            <a:lvl2pPr marL="1920240" indent="0" algn="ctr">
              <a:buNone/>
              <a:defRPr sz="8400"/>
            </a:lvl2pPr>
            <a:lvl3pPr marL="3840480" indent="0" algn="ctr">
              <a:buNone/>
              <a:defRPr sz="7560"/>
            </a:lvl3pPr>
            <a:lvl4pPr marL="5760720" indent="0" algn="ctr">
              <a:buNone/>
              <a:defRPr sz="6720"/>
            </a:lvl4pPr>
            <a:lvl5pPr marL="7680960" indent="0" algn="ctr">
              <a:buNone/>
              <a:defRPr sz="6720"/>
            </a:lvl5pPr>
            <a:lvl6pPr marL="9601200" indent="0" algn="ctr">
              <a:buNone/>
              <a:defRPr sz="6720"/>
            </a:lvl6pPr>
            <a:lvl7pPr marL="11521440" indent="0" algn="ctr">
              <a:buNone/>
              <a:defRPr sz="6720"/>
            </a:lvl7pPr>
            <a:lvl8pPr marL="13441680" indent="0" algn="ctr">
              <a:buNone/>
              <a:defRPr sz="6720"/>
            </a:lvl8pPr>
            <a:lvl9pPr marL="15361920" indent="0" algn="ctr">
              <a:buNone/>
              <a:defRPr sz="6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96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168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330" y="9574541"/>
            <a:ext cx="33124140" cy="15975327"/>
          </a:xfrm>
        </p:spPr>
        <p:txBody>
          <a:bodyPr anchor="b"/>
          <a:lstStyle>
            <a:lvl1pPr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0330" y="25701001"/>
            <a:ext cx="33124140" cy="8401047"/>
          </a:xfrm>
        </p:spPr>
        <p:txBody>
          <a:bodyPr/>
          <a:lstStyle>
            <a:lvl1pPr marL="0" indent="0">
              <a:buNone/>
              <a:defRPr sz="10080">
                <a:solidFill>
                  <a:schemeClr val="tx1"/>
                </a:solidFill>
              </a:defRPr>
            </a:lvl1pPr>
            <a:lvl2pPr marL="1920240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2pPr>
            <a:lvl3pPr marL="3840480" indent="0">
              <a:buNone/>
              <a:defRPr sz="7560">
                <a:solidFill>
                  <a:schemeClr val="tx1">
                    <a:tint val="75000"/>
                  </a:schemeClr>
                </a:solidFill>
              </a:defRPr>
            </a:lvl3pPr>
            <a:lvl4pPr marL="57607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76809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96012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15214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3441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335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40330" y="10223500"/>
            <a:ext cx="1632204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42430" y="10223500"/>
            <a:ext cx="1632204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208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044708"/>
            <a:ext cx="33124140" cy="74231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5336" y="9414513"/>
            <a:ext cx="16247028" cy="4613907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45336" y="14028420"/>
            <a:ext cx="16247028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442432" y="9414513"/>
            <a:ext cx="16327042" cy="4613907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442432" y="14028420"/>
            <a:ext cx="16327042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70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06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983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560320"/>
            <a:ext cx="12386548" cy="896112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7042" y="5529588"/>
            <a:ext cx="19442430" cy="27292300"/>
          </a:xfrm>
        </p:spPr>
        <p:txBody>
          <a:bodyPr/>
          <a:lstStyle>
            <a:lvl1pPr>
              <a:defRPr sz="13440"/>
            </a:lvl1pPr>
            <a:lvl2pPr>
              <a:defRPr sz="11760"/>
            </a:lvl2pPr>
            <a:lvl3pPr>
              <a:defRPr sz="1008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11521440"/>
            <a:ext cx="12386548" cy="21344893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5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560320"/>
            <a:ext cx="12386548" cy="896112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327042" y="5529588"/>
            <a:ext cx="19442430" cy="27292300"/>
          </a:xfrm>
        </p:spPr>
        <p:txBody>
          <a:bodyPr anchor="t"/>
          <a:lstStyle>
            <a:lvl1pPr marL="0" indent="0">
              <a:buNone/>
              <a:defRPr sz="13440"/>
            </a:lvl1pPr>
            <a:lvl2pPr marL="1920240" indent="0">
              <a:buNone/>
              <a:defRPr sz="11760"/>
            </a:lvl2pPr>
            <a:lvl3pPr marL="3840480" indent="0">
              <a:buNone/>
              <a:defRPr sz="10080"/>
            </a:lvl3pPr>
            <a:lvl4pPr marL="5760720" indent="0">
              <a:buNone/>
              <a:defRPr sz="8400"/>
            </a:lvl4pPr>
            <a:lvl5pPr marL="7680960" indent="0">
              <a:buNone/>
              <a:defRPr sz="8400"/>
            </a:lvl5pPr>
            <a:lvl6pPr marL="9601200" indent="0">
              <a:buNone/>
              <a:defRPr sz="8400"/>
            </a:lvl6pPr>
            <a:lvl7pPr marL="11521440" indent="0">
              <a:buNone/>
              <a:defRPr sz="8400"/>
            </a:lvl7pPr>
            <a:lvl8pPr marL="13441680" indent="0">
              <a:buNone/>
              <a:defRPr sz="8400"/>
            </a:lvl8pPr>
            <a:lvl9pPr marL="15361920" indent="0">
              <a:buNone/>
              <a:defRPr sz="8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11521440"/>
            <a:ext cx="12386548" cy="21344893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545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536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483437" y="2044700"/>
            <a:ext cx="8281035" cy="32546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40332" y="2044700"/>
            <a:ext cx="24363045" cy="32546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620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Box">
            <a:extLst>
              <a:ext uri="{FF2B5EF4-FFF2-40B4-BE49-F238E27FC236}">
                <a16:creationId xmlns:a16="http://schemas.microsoft.com/office/drawing/2014/main" id="{8CF7A081-D4BA-4640-9469-127EDBF21168}"/>
              </a:ext>
            </a:extLst>
          </p:cNvPr>
          <p:cNvSpPr/>
          <p:nvPr userDrawn="1"/>
        </p:nvSpPr>
        <p:spPr>
          <a:xfrm>
            <a:off x="800100" y="1066801"/>
            <a:ext cx="36804600" cy="533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811530" y="1054101"/>
            <a:ext cx="36804600" cy="5334000"/>
          </a:xfrm>
          <a:prstGeom prst="rect">
            <a:avLst/>
          </a:prstGeom>
        </p:spPr>
        <p:txBody>
          <a:bodyPr tIns="274320" anchor="t">
            <a:normAutofit/>
          </a:bodyPr>
          <a:lstStyle>
            <a:lvl1pPr>
              <a:defRPr sz="10500"/>
            </a:lvl1pPr>
          </a:lstStyle>
          <a:p>
            <a:r>
              <a:rPr lang="en-US" dirty="0"/>
              <a:t>Title: 90pt bold</a:t>
            </a:r>
          </a:p>
        </p:txBody>
      </p:sp>
      <p:sp>
        <p:nvSpPr>
          <p:cNvPr id="5" name="Authors">
            <a:extLst>
              <a:ext uri="{FF2B5EF4-FFF2-40B4-BE49-F238E27FC236}">
                <a16:creationId xmlns:a16="http://schemas.microsoft.com/office/drawing/2014/main" id="{505FC82D-CD56-47F5-9ECA-4C64B71AFE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530" y="3720837"/>
            <a:ext cx="36804600" cy="266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defRPr/>
            </a:lvl1pPr>
            <a:lvl2pPr marL="533432" indent="0" algn="ctr">
              <a:buNone/>
              <a:defRPr sz="5600"/>
            </a:lvl2pPr>
            <a:lvl5pPr marL="10241865" indent="0">
              <a:buNone/>
              <a:defRPr/>
            </a:lvl5pPr>
          </a:lstStyle>
          <a:p>
            <a:pPr lvl="0"/>
            <a:r>
              <a:rPr lang="en-US" dirty="0"/>
              <a:t>Authors: 60pt </a:t>
            </a:r>
          </a:p>
          <a:p>
            <a:pPr lvl="1"/>
            <a:r>
              <a:rPr lang="en-US" dirty="0"/>
              <a:t>Department/Institution: 48pt</a:t>
            </a:r>
          </a:p>
        </p:txBody>
      </p:sp>
      <p:sp>
        <p:nvSpPr>
          <p:cNvPr id="18" name="Logo 2">
            <a:extLst>
              <a:ext uri="{FF2B5EF4-FFF2-40B4-BE49-F238E27FC236}">
                <a16:creationId xmlns:a16="http://schemas.microsoft.com/office/drawing/2014/main" id="{113BD261-7FE7-4699-A259-9D15A525745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2015430" y="1053574"/>
            <a:ext cx="5600700" cy="5334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667"/>
            </a:lvl1pPr>
          </a:lstStyle>
          <a:p>
            <a:r>
              <a:rPr lang="en-US" dirty="0"/>
              <a:t>Funding logo</a:t>
            </a:r>
          </a:p>
        </p:txBody>
      </p:sp>
      <p:sp>
        <p:nvSpPr>
          <p:cNvPr id="17" name="Logo 1">
            <a:extLst>
              <a:ext uri="{FF2B5EF4-FFF2-40B4-BE49-F238E27FC236}">
                <a16:creationId xmlns:a16="http://schemas.microsoft.com/office/drawing/2014/main" id="{0DE7F8E4-F2EC-4650-A065-B47A1E2DE35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1212" y="1053574"/>
            <a:ext cx="5600700" cy="53340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667"/>
            </a:lvl1pPr>
          </a:lstStyle>
          <a:p>
            <a:r>
              <a:rPr lang="en-US" dirty="0"/>
              <a:t>Institution logo</a:t>
            </a:r>
          </a:p>
        </p:txBody>
      </p:sp>
      <p:sp>
        <p:nvSpPr>
          <p:cNvPr id="8" name="Box 2">
            <a:extLst>
              <a:ext uri="{FF2B5EF4-FFF2-40B4-BE49-F238E27FC236}">
                <a16:creationId xmlns:a16="http://schemas.microsoft.com/office/drawing/2014/main" id="{E02E477B-1073-4362-A2FC-F9B998B9AAB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00100" y="19202400"/>
            <a:ext cx="11729466" cy="1600200"/>
          </a:xfrm>
          <a:prstGeom prst="rect">
            <a:avLst/>
          </a:prstGeom>
          <a:solidFill>
            <a:schemeClr val="accent1"/>
          </a:solidFill>
        </p:spPr>
        <p:txBody>
          <a:bodyPr tIns="274320"/>
          <a:lstStyle>
            <a:lvl1pPr marL="213372" indent="0">
              <a:buNone/>
              <a:defRPr lang="en-US" sz="7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3" name="Box 1"/>
          <p:cNvSpPr>
            <a:spLocks noGrp="1"/>
          </p:cNvSpPr>
          <p:nvPr>
            <p:ph idx="1" hasCustomPrompt="1"/>
          </p:nvPr>
        </p:nvSpPr>
        <p:spPr>
          <a:xfrm>
            <a:off x="800100" y="7467600"/>
            <a:ext cx="11729466" cy="1600200"/>
          </a:xfrm>
          <a:prstGeom prst="rect">
            <a:avLst/>
          </a:prstGeom>
          <a:solidFill>
            <a:schemeClr val="accent1"/>
          </a:solidFill>
        </p:spPr>
        <p:txBody>
          <a:bodyPr lIns="274320" tIns="274320" rIns="274320" bIns="274320"/>
          <a:lstStyle>
            <a:lvl1pPr marL="213372" indent="0">
              <a:buNone/>
              <a:defRPr b="1"/>
            </a:lvl1pPr>
            <a:lvl2pPr marL="342656" indent="0" algn="l">
              <a:buFont typeface="Arial" panose="020B0604020202020204" pitchFamily="34" charset="0"/>
              <a:buNone/>
              <a:defRPr/>
            </a:lvl2pPr>
            <a:lvl3pPr marL="1066861" indent="-53343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4A89A687-91C5-4D15-BA43-954A9EABF6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867233" y="33604200"/>
            <a:ext cx="11729466" cy="37338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3500"/>
            </a:lvl1pPr>
            <a:lvl2pPr marL="533432" indent="0">
              <a:lnSpc>
                <a:spcPct val="100000"/>
              </a:lnSpc>
              <a:spcBef>
                <a:spcPts val="700"/>
              </a:spcBef>
              <a:buNone/>
              <a:defRPr/>
            </a:lvl2pPr>
          </a:lstStyle>
          <a:p>
            <a:pPr lvl="0"/>
            <a:r>
              <a:rPr lang="en-US" dirty="0"/>
              <a:t>Insert references here: 30pt</a:t>
            </a: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0B7AF548-F5AE-4711-A6D2-C002D73570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886664" y="27203400"/>
            <a:ext cx="11729466" cy="53340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4200"/>
            </a:lvl1pPr>
            <a:lvl2pPr marL="533432" indent="0">
              <a:lnSpc>
                <a:spcPct val="100000"/>
              </a:lnSpc>
              <a:spcBef>
                <a:spcPts val="7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EB5CD2C3-998E-4985-BF6D-D989D179E97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886664" y="9067800"/>
            <a:ext cx="11729466" cy="154686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4200"/>
            </a:lvl1pPr>
            <a:lvl2pPr marL="533432" indent="0">
              <a:lnSpc>
                <a:spcPct val="100000"/>
              </a:lnSpc>
              <a:spcBef>
                <a:spcPts val="7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BFFF27C4-42EC-4CD7-843A-F948B63564C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329666" y="9067800"/>
            <a:ext cx="11729466" cy="282702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4200"/>
            </a:lvl1pPr>
            <a:lvl2pPr marL="533432" indent="0">
              <a:lnSpc>
                <a:spcPct val="100000"/>
              </a:lnSpc>
              <a:spcBef>
                <a:spcPts val="7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                     </a:t>
            </a: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8A5321CD-FF7B-4114-9D48-FDD57D338A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0100" y="20802600"/>
            <a:ext cx="11729466" cy="166243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4200"/>
            </a:lvl1pPr>
            <a:lvl2pPr marL="533432" indent="0">
              <a:lnSpc>
                <a:spcPct val="100000"/>
              </a:lnSpc>
              <a:spcBef>
                <a:spcPts val="7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BE638DAD-C6D5-4544-8750-9F030F2CA5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0100" y="9067800"/>
            <a:ext cx="11729466" cy="9156700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>
              <a:lnSpc>
                <a:spcPct val="100000"/>
              </a:lnSpc>
              <a:spcBef>
                <a:spcPts val="0"/>
              </a:spcBef>
              <a:defRPr sz="4200"/>
            </a:lvl1pPr>
            <a:lvl2pPr marL="533432" indent="0">
              <a:lnSpc>
                <a:spcPct val="100000"/>
              </a:lnSpc>
              <a:spcBef>
                <a:spcPts val="700"/>
              </a:spcBef>
              <a:buNone/>
              <a:defRPr/>
            </a:lvl2pPr>
          </a:lstStyle>
          <a:p>
            <a:pPr lvl="0"/>
            <a:r>
              <a:rPr lang="en-US" dirty="0"/>
              <a:t>Insert content here: 36pt</a:t>
            </a:r>
          </a:p>
        </p:txBody>
      </p:sp>
      <p:sp>
        <p:nvSpPr>
          <p:cNvPr id="12" name="Figure 1">
            <a:extLst>
              <a:ext uri="{FF2B5EF4-FFF2-40B4-BE49-F238E27FC236}">
                <a16:creationId xmlns:a16="http://schemas.microsoft.com/office/drawing/2014/main" id="{3558BC88-E2CA-411E-9E88-FAE8D9DE3766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14137767" y="15469578"/>
            <a:ext cx="10129266" cy="8534400"/>
          </a:xfrm>
          <a:prstGeom prst="rect">
            <a:avLst/>
          </a:prstGeom>
        </p:spPr>
        <p:txBody>
          <a:bodyPr rIns="274320">
            <a:normAutofit/>
          </a:bodyPr>
          <a:lstStyle>
            <a:lvl1pPr marL="0" indent="0">
              <a:buNone/>
              <a:defRPr sz="4200"/>
            </a:lvl1pPr>
          </a:lstStyle>
          <a:p>
            <a:r>
              <a:rPr lang="en-US" dirty="0"/>
              <a:t>Click to add figure caption</a:t>
            </a:r>
          </a:p>
        </p:txBody>
      </p:sp>
      <p:sp>
        <p:nvSpPr>
          <p:cNvPr id="22" name="Box 1">
            <a:extLst>
              <a:ext uri="{FF2B5EF4-FFF2-40B4-BE49-F238E27FC236}">
                <a16:creationId xmlns:a16="http://schemas.microsoft.com/office/drawing/2014/main" id="{3C0CB99D-0C32-EF40-9935-A25E84E2C024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13329666" y="7467600"/>
            <a:ext cx="11729466" cy="1600200"/>
          </a:xfrm>
          <a:prstGeom prst="rect">
            <a:avLst/>
          </a:prstGeom>
          <a:solidFill>
            <a:schemeClr val="accent1"/>
          </a:solidFill>
        </p:spPr>
        <p:txBody>
          <a:bodyPr lIns="274320" tIns="274320" rIns="274320" bIns="274320"/>
          <a:lstStyle>
            <a:lvl1pPr marL="213372" indent="0">
              <a:buNone/>
              <a:defRPr b="1"/>
            </a:lvl1pPr>
            <a:lvl2pPr marL="342656" indent="0" algn="l">
              <a:buFont typeface="Arial" panose="020B0604020202020204" pitchFamily="34" charset="0"/>
              <a:buNone/>
              <a:defRPr/>
            </a:lvl2pPr>
            <a:lvl3pPr marL="1066861" indent="-53343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24" name="Box 1">
            <a:extLst>
              <a:ext uri="{FF2B5EF4-FFF2-40B4-BE49-F238E27FC236}">
                <a16:creationId xmlns:a16="http://schemas.microsoft.com/office/drawing/2014/main" id="{43F51088-834B-A345-AEBB-3146F2D9CA57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25867233" y="7467600"/>
            <a:ext cx="11729466" cy="1600200"/>
          </a:xfrm>
          <a:prstGeom prst="rect">
            <a:avLst/>
          </a:prstGeom>
          <a:solidFill>
            <a:schemeClr val="accent1"/>
          </a:solidFill>
        </p:spPr>
        <p:txBody>
          <a:bodyPr lIns="274320" tIns="274320" rIns="274320" bIns="274320"/>
          <a:lstStyle>
            <a:lvl1pPr marL="213372" indent="0">
              <a:buNone/>
              <a:defRPr b="1"/>
            </a:lvl1pPr>
            <a:lvl2pPr marL="342656" indent="0" algn="l">
              <a:buFont typeface="Arial" panose="020B0604020202020204" pitchFamily="34" charset="0"/>
              <a:buNone/>
              <a:defRPr/>
            </a:lvl2pPr>
            <a:lvl3pPr marL="1066861" indent="-53343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  <p:sp>
        <p:nvSpPr>
          <p:cNvPr id="27" name="Box 1">
            <a:extLst>
              <a:ext uri="{FF2B5EF4-FFF2-40B4-BE49-F238E27FC236}">
                <a16:creationId xmlns:a16="http://schemas.microsoft.com/office/drawing/2014/main" id="{92764DB2-3E62-3C43-9A47-B548777464A8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5867233" y="25603200"/>
            <a:ext cx="11729466" cy="1600200"/>
          </a:xfrm>
          <a:prstGeom prst="rect">
            <a:avLst/>
          </a:prstGeom>
          <a:solidFill>
            <a:schemeClr val="accent1"/>
          </a:solidFill>
        </p:spPr>
        <p:txBody>
          <a:bodyPr lIns="274320" tIns="274320" rIns="274320" bIns="274320"/>
          <a:lstStyle>
            <a:lvl1pPr marL="213372" indent="0">
              <a:buNone/>
              <a:defRPr b="1"/>
            </a:lvl1pPr>
            <a:lvl2pPr marL="342656" indent="0" algn="l">
              <a:buFont typeface="Arial" panose="020B0604020202020204" pitchFamily="34" charset="0"/>
              <a:buNone/>
              <a:defRPr/>
            </a:lvl2pPr>
            <a:lvl3pPr marL="1066861" indent="-533432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Heading: 60pt bold</a:t>
            </a:r>
          </a:p>
        </p:txBody>
      </p:sp>
    </p:spTree>
    <p:extLst>
      <p:ext uri="{BB962C8B-B14F-4D97-AF65-F5344CB8AC3E}">
        <p14:creationId xmlns:p14="http://schemas.microsoft.com/office/powerpoint/2010/main" val="100747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40330" y="2044708"/>
            <a:ext cx="33124140" cy="742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0330" y="10223500"/>
            <a:ext cx="33124140" cy="2436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40330" y="35595568"/>
            <a:ext cx="864108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21590" y="35595568"/>
            <a:ext cx="1296162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123390" y="35595568"/>
            <a:ext cx="864108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18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3" r:id="rId12"/>
  </p:sldLayoutIdLst>
  <p:txStyles>
    <p:titleStyle>
      <a:lvl1pPr algn="l" defTabSz="3840480" rtl="0" eaLnBrk="1" latinLnBrk="0" hangingPunct="1">
        <a:lnSpc>
          <a:spcPct val="90000"/>
        </a:lnSpc>
        <a:spcBef>
          <a:spcPct val="0"/>
        </a:spcBef>
        <a:buNone/>
        <a:defRPr sz="18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120" indent="-960120" algn="l" defTabSz="384048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8803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3pPr>
      <a:lvl4pPr marL="67208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1056132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63220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8096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416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95" userDrawn="1">
          <p15:clr>
            <a:srgbClr val="F26B43"/>
          </p15:clr>
        </p15:guide>
        <p15:guide id="2" pos="120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oleObject" Target="../embeddings/oleObject3.bin"/><Relationship Id="rId26" Type="http://schemas.openxmlformats.org/officeDocument/2006/relationships/oleObject" Target="../embeddings/oleObject6.bin"/><Relationship Id="rId3" Type="http://schemas.openxmlformats.org/officeDocument/2006/relationships/image" Target="../media/image1.png"/><Relationship Id="rId21" Type="http://schemas.openxmlformats.org/officeDocument/2006/relationships/image" Target="../media/image15.emf"/><Relationship Id="rId34" Type="http://schemas.openxmlformats.org/officeDocument/2006/relationships/image" Target="../media/image25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3.emf"/><Relationship Id="rId25" Type="http://schemas.openxmlformats.org/officeDocument/2006/relationships/image" Target="../media/image18.png"/><Relationship Id="rId3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6" Type="http://schemas.openxmlformats.org/officeDocument/2006/relationships/oleObject" Target="../embeddings/oleObject2.bin"/><Relationship Id="rId20" Type="http://schemas.openxmlformats.org/officeDocument/2006/relationships/oleObject" Target="../embeddings/oleObject4.bin"/><Relationship Id="rId29" Type="http://schemas.openxmlformats.org/officeDocument/2006/relationships/image" Target="../media/image20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17.png"/><Relationship Id="rId32" Type="http://schemas.openxmlformats.org/officeDocument/2006/relationships/image" Target="../media/image23.png"/><Relationship Id="rId5" Type="http://schemas.openxmlformats.org/officeDocument/2006/relationships/image" Target="../media/image3.jpg"/><Relationship Id="rId15" Type="http://schemas.openxmlformats.org/officeDocument/2006/relationships/image" Target="../media/image12.emf"/><Relationship Id="rId23" Type="http://schemas.openxmlformats.org/officeDocument/2006/relationships/image" Target="../media/image16.emf"/><Relationship Id="rId28" Type="http://schemas.openxmlformats.org/officeDocument/2006/relationships/oleObject" Target="../embeddings/oleObject7.bin"/><Relationship Id="rId36" Type="http://schemas.openxmlformats.org/officeDocument/2006/relationships/image" Target="../media/image27.png"/><Relationship Id="rId10" Type="http://schemas.openxmlformats.org/officeDocument/2006/relationships/image" Target="../media/image8.png"/><Relationship Id="rId19" Type="http://schemas.openxmlformats.org/officeDocument/2006/relationships/image" Target="../media/image14.emf"/><Relationship Id="rId31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oleObject" Target="../embeddings/oleObject1.bin"/><Relationship Id="rId22" Type="http://schemas.openxmlformats.org/officeDocument/2006/relationships/oleObject" Target="../embeddings/oleObject5.bin"/><Relationship Id="rId27" Type="http://schemas.openxmlformats.org/officeDocument/2006/relationships/image" Target="../media/image19.emf"/><Relationship Id="rId30" Type="http://schemas.openxmlformats.org/officeDocument/2006/relationships/image" Target="../media/image21.png"/><Relationship Id="rId35" Type="http://schemas.openxmlformats.org/officeDocument/2006/relationships/image" Target="../media/image26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DE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993F5E0-144F-24FF-E51E-9032C4E1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886" y="2368999"/>
            <a:ext cx="32815028" cy="137208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b="1" dirty="0">
                <a:latin typeface="Garamond" panose="02020404030301010803" pitchFamily="18" charset="0"/>
              </a:rPr>
              <a:t>Glutamate-Responsive MRI Probe Engineered via Competitive </a:t>
            </a:r>
            <a:r>
              <a:rPr lang="en-US" sz="8800" b="1" dirty="0" err="1">
                <a:latin typeface="Garamond" panose="02020404030301010803" pitchFamily="18" charset="0"/>
              </a:rPr>
              <a:t>GltI</a:t>
            </a:r>
            <a:r>
              <a:rPr lang="en-US" sz="8800" b="1" dirty="0">
                <a:latin typeface="Garamond" panose="02020404030301010803" pitchFamily="18" charset="0"/>
              </a:rPr>
              <a:t> Binding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B89C2B0-031F-F089-7FE6-AAB9CB35F27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03494" y="4008132"/>
            <a:ext cx="34797812" cy="228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latin typeface="Garamond" panose="02020404030301010803" pitchFamily="18" charset="0"/>
              </a:rPr>
              <a:t>Emma Wang</a:t>
            </a:r>
            <a:r>
              <a:rPr lang="en-US" sz="6000" baseline="30000" dirty="0">
                <a:latin typeface="Garamond" panose="02020404030301010803" pitchFamily="18" charset="0"/>
              </a:rPr>
              <a:t>1</a:t>
            </a:r>
            <a:r>
              <a:rPr lang="en-US" sz="6000" dirty="0">
                <a:latin typeface="Garamond" panose="02020404030301010803" pitchFamily="18" charset="0"/>
              </a:rPr>
              <a:t>, </a:t>
            </a:r>
            <a:r>
              <a:rPr lang="en-US" sz="6000" dirty="0" err="1">
                <a:latin typeface="Garamond" panose="02020404030301010803" pitchFamily="18" charset="0"/>
              </a:rPr>
              <a:t>LiLi</a:t>
            </a:r>
            <a:r>
              <a:rPr lang="en-US" sz="6000" dirty="0">
                <a:latin typeface="Garamond" panose="02020404030301010803" pitchFamily="18" charset="0"/>
              </a:rPr>
              <a:t> Finch</a:t>
            </a:r>
            <a:r>
              <a:rPr lang="en-US" sz="3200" baseline="30000" dirty="0">
                <a:latin typeface="Garamond" panose="02020404030301010803" pitchFamily="18" charset="0"/>
              </a:rPr>
              <a:t>1</a:t>
            </a:r>
            <a:r>
              <a:rPr lang="en-US" sz="6000" dirty="0">
                <a:latin typeface="Garamond" panose="02020404030301010803" pitchFamily="18" charset="0"/>
              </a:rPr>
              <a:t>, Heather Jensen</a:t>
            </a:r>
            <a:r>
              <a:rPr lang="en-US" sz="6000" baseline="30000" dirty="0">
                <a:latin typeface="Garamond" panose="02020404030301010803" pitchFamily="18" charset="0"/>
              </a:rPr>
              <a:t>1</a:t>
            </a:r>
            <a:r>
              <a:rPr lang="en-US" sz="6000" dirty="0">
                <a:latin typeface="Garamond" panose="02020404030301010803" pitchFamily="18" charset="0"/>
              </a:rPr>
              <a:t>, Jeong Hoon Ko</a:t>
            </a:r>
            <a:r>
              <a:rPr lang="en-US" sz="6000" baseline="30000" dirty="0">
                <a:latin typeface="Garamond" panose="02020404030301010803" pitchFamily="18" charset="0"/>
              </a:rPr>
              <a:t>1</a:t>
            </a:r>
            <a:r>
              <a:rPr lang="en-US" sz="6000" dirty="0">
                <a:latin typeface="Garamond" panose="02020404030301010803" pitchFamily="18" charset="0"/>
              </a:rPr>
              <a:t>, Lindsey Guan</a:t>
            </a:r>
            <a:r>
              <a:rPr lang="en-US" sz="6000" baseline="30000" dirty="0">
                <a:latin typeface="Garamond" panose="02020404030301010803" pitchFamily="18" charset="0"/>
              </a:rPr>
              <a:t>2</a:t>
            </a:r>
            <a:r>
              <a:rPr lang="en-US" sz="6000" dirty="0">
                <a:latin typeface="Garamond" panose="02020404030301010803" pitchFamily="18" charset="0"/>
              </a:rPr>
              <a:t>, Amy Keating</a:t>
            </a:r>
            <a:r>
              <a:rPr lang="en-US" sz="6000" baseline="30000" dirty="0">
                <a:latin typeface="Garamond" panose="02020404030301010803" pitchFamily="18" charset="0"/>
              </a:rPr>
              <a:t>2</a:t>
            </a:r>
            <a:r>
              <a:rPr lang="en-US" sz="6000" dirty="0">
                <a:latin typeface="Garamond" panose="02020404030301010803" pitchFamily="18" charset="0"/>
              </a:rPr>
              <a:t>, Alan Jasanoff</a:t>
            </a:r>
            <a:r>
              <a:rPr lang="en-US" sz="6000" baseline="30000" dirty="0">
                <a:latin typeface="Garamond" panose="02020404030301010803" pitchFamily="18" charset="0"/>
              </a:rPr>
              <a:t>1</a:t>
            </a:r>
            <a:endParaRPr lang="en-US" sz="6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4000" spc="-100" baseline="30000" dirty="0">
                <a:latin typeface="Garamond" panose="02020404030301010803" pitchFamily="18" charset="0"/>
              </a:rPr>
              <a:t>1</a:t>
            </a:r>
            <a:r>
              <a:rPr lang="en-US" sz="4000" spc="-100" dirty="0">
                <a:latin typeface="Garamond" panose="02020404030301010803" pitchFamily="18" charset="0"/>
              </a:rPr>
              <a:t>Department of Brain and Cognitive Sciences and Department of Biological Engineering, and </a:t>
            </a:r>
            <a:r>
              <a:rPr lang="en-US" sz="4000" spc="-100" baseline="30000" dirty="0">
                <a:latin typeface="Garamond" panose="02020404030301010803" pitchFamily="18" charset="0"/>
              </a:rPr>
              <a:t>2</a:t>
            </a:r>
            <a:r>
              <a:rPr lang="en-US" sz="4000" spc="-100" dirty="0">
                <a:latin typeface="Garamond" panose="02020404030301010803" pitchFamily="18" charset="0"/>
              </a:rPr>
              <a:t>Department of Biology, Massachusetts Institute of Technology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0396B22-A795-74BA-6EA1-BBA48FEEF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725" y="1488394"/>
            <a:ext cx="2105712" cy="108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inks &amp; Resources – MIT BE Students">
            <a:extLst>
              <a:ext uri="{FF2B5EF4-FFF2-40B4-BE49-F238E27FC236}">
                <a16:creationId xmlns:a16="http://schemas.microsoft.com/office/drawing/2014/main" id="{EDDD3804-2478-CEE5-26D3-F27EDF8A0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05952" y="1302199"/>
            <a:ext cx="3377123" cy="147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D64B33B-0999-21CD-FCAE-60C5D2EFF633}"/>
              </a:ext>
            </a:extLst>
          </p:cNvPr>
          <p:cNvSpPr txBox="1">
            <a:spLocks noGrp="1"/>
          </p:cNvSpPr>
          <p:nvPr>
            <p:ph type="body" sz="quarter" idx="22"/>
          </p:nvPr>
        </p:nvSpPr>
        <p:spPr>
          <a:xfrm>
            <a:off x="800099" y="9063947"/>
            <a:ext cx="19301649" cy="7930447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 marL="182880" indent="0" algn="l" defTabSz="4389010" rtl="0" eaLnBrk="1" fontAlgn="t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38901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7632" indent="-346066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76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27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77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28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789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294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0135" indent="-666769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Garamond" panose="02020404030301010803" pitchFamily="18" charset="0"/>
              </a:rPr>
              <a:t>Monitoring molecular </a:t>
            </a:r>
            <a:r>
              <a:rPr lang="en-US" sz="3200" dirty="0">
                <a:highlight>
                  <a:srgbClr val="FFFFFF"/>
                </a:highlight>
                <a:latin typeface="Garamond" panose="02020404030301010803" pitchFamily="18" charset="0"/>
              </a:rPr>
              <a:t>neurotransmission 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Garamond" panose="02020404030301010803" pitchFamily="18" charset="0"/>
              </a:rPr>
              <a:t>within the brain helps understand the brain in healthy and disease states.</a:t>
            </a:r>
          </a:p>
          <a:p>
            <a:pPr marL="880135" indent="-666769"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Glutamate is the most abundant excitatory neurotransmitter.</a:t>
            </a:r>
          </a:p>
          <a:p>
            <a:pPr marL="880135" indent="-666769">
              <a:buFont typeface="Arial" panose="020B0604020202020204" pitchFamily="34" charset="0"/>
              <a:buChar char="•"/>
            </a:pPr>
            <a:r>
              <a:rPr lang="en-US" sz="3200" u="sng" dirty="0">
                <a:latin typeface="Garamond" panose="02020404030301010803" pitchFamily="18" charset="0"/>
              </a:rPr>
              <a:t>Magnetic Resonance Imaging (MRI)</a:t>
            </a:r>
            <a:r>
              <a:rPr lang="en-US" sz="3200" dirty="0">
                <a:latin typeface="Garamond" panose="02020404030301010803" pitchFamily="18" charset="0"/>
              </a:rPr>
              <a:t>: non-invasive, offers high spatiotemporal resolution.</a:t>
            </a:r>
          </a:p>
          <a:p>
            <a:pPr marL="880135" indent="-666769">
              <a:buFont typeface="Arial" panose="020B0604020202020204" pitchFamily="34" charset="0"/>
              <a:buChar char="•"/>
            </a:pPr>
            <a:r>
              <a:rPr lang="en-US" sz="3200" u="sng" dirty="0" err="1">
                <a:latin typeface="Garamond" panose="02020404030301010803" pitchFamily="18" charset="0"/>
              </a:rPr>
              <a:t>Vasoprobes</a:t>
            </a:r>
            <a:r>
              <a:rPr lang="en-US" sz="3200" dirty="0">
                <a:latin typeface="Garamond" panose="02020404030301010803" pitchFamily="18" charset="0"/>
              </a:rPr>
              <a:t>: trigger 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Garamond" panose="02020404030301010803" pitchFamily="18" charset="0"/>
              </a:rPr>
              <a:t>vasodilation when bound to the target neurotransmitter, which creates MRI signal.</a:t>
            </a:r>
          </a:p>
          <a:p>
            <a:pPr marL="880135" indent="-666769">
              <a:buFont typeface="Arial" panose="020B0604020202020204" pitchFamily="34" charset="0"/>
              <a:buChar char="•"/>
            </a:pPr>
            <a:r>
              <a:rPr lang="en-US" sz="3200" u="sng" dirty="0">
                <a:solidFill>
                  <a:srgbClr val="000000"/>
                </a:solidFill>
                <a:highlight>
                  <a:srgbClr val="FFFFFF"/>
                </a:highlight>
                <a:latin typeface="Garamond" panose="02020404030301010803" pitchFamily="18" charset="0"/>
              </a:rPr>
              <a:t>Goal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Garamond" panose="02020404030301010803" pitchFamily="18" charset="0"/>
              </a:rPr>
              <a:t>: engineer a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Garamond" panose="02020404030301010803" pitchFamily="18" charset="0"/>
              </a:rPr>
              <a:t>vasoprobe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Garamond" panose="02020404030301010803" pitchFamily="18" charset="0"/>
              </a:rPr>
              <a:t> that generates glutamate-dependent MRI signal.</a:t>
            </a:r>
          </a:p>
          <a:p>
            <a:pPr marL="880135" indent="-666769">
              <a:buFont typeface="Arial" panose="020B0604020202020204" pitchFamily="34" charset="0"/>
              <a:buChar char="•"/>
            </a:pPr>
            <a:r>
              <a:rPr lang="en-US" sz="3200" dirty="0">
                <a:latin typeface="Garamond" panose="02020404030301010803" pitchFamily="18" charset="0"/>
              </a:rPr>
              <a:t>Glutamate binding protein GltI + 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Garamond" panose="02020404030301010803" pitchFamily="18" charset="0"/>
              </a:rPr>
              <a:t>vasoactive pituitary adenylate cyclase-activating polypeptide (PACAP) =</a:t>
            </a:r>
            <a:r>
              <a:rPr lang="en-US" sz="3200" b="1" dirty="0">
                <a:highlight>
                  <a:srgbClr val="FFFFFF"/>
                </a:highlight>
                <a:latin typeface="Garamond" panose="02020404030301010803" pitchFamily="18" charset="0"/>
              </a:rPr>
              <a:t>Glutamate activatable </a:t>
            </a:r>
            <a:r>
              <a:rPr lang="en-US" sz="3200" b="1" dirty="0" err="1">
                <a:highlight>
                  <a:srgbClr val="FFFFFF"/>
                </a:highlight>
                <a:latin typeface="Garamond" panose="02020404030301010803" pitchFamily="18" charset="0"/>
              </a:rPr>
              <a:t>vasoprobe</a:t>
            </a:r>
            <a:r>
              <a:rPr lang="en-US" sz="3200" b="1" dirty="0">
                <a:highlight>
                  <a:srgbClr val="FFFFFF"/>
                </a:highlight>
                <a:latin typeface="Garamond" panose="02020404030301010803" pitchFamily="18" charset="0"/>
              </a:rPr>
              <a:t> for analyte targeting (</a:t>
            </a:r>
            <a:r>
              <a:rPr lang="en-US" sz="3200" b="1" dirty="0" err="1">
                <a:highlight>
                  <a:srgbClr val="FFFFFF"/>
                </a:highlight>
                <a:latin typeface="Garamond" panose="02020404030301010803" pitchFamily="18" charset="0"/>
              </a:rPr>
              <a:t>GluAVATar</a:t>
            </a:r>
            <a:r>
              <a:rPr lang="en-US" sz="3200" b="1" dirty="0">
                <a:highlight>
                  <a:srgbClr val="FFFFFF"/>
                </a:highlight>
                <a:latin typeface="Garamond" panose="02020404030301010803" pitchFamily="18" charset="0"/>
              </a:rPr>
              <a:t>)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C0B580-D1C9-2584-D8A8-2CF102868C7E}"/>
              </a:ext>
            </a:extLst>
          </p:cNvPr>
          <p:cNvSpPr txBox="1"/>
          <p:nvPr/>
        </p:nvSpPr>
        <p:spPr>
          <a:xfrm>
            <a:off x="7677484" y="15337303"/>
            <a:ext cx="12686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PACAP binding to PAC1R in the presence of glutamate triggers vasodilation</a:t>
            </a:r>
          </a:p>
        </p:txBody>
      </p:sp>
      <p:pic>
        <p:nvPicPr>
          <p:cNvPr id="31" name="Content Placeholder 29" descr="A diagram of a human body&#10;&#10;Description automatically generated with medium confidence">
            <a:extLst>
              <a:ext uri="{FF2B5EF4-FFF2-40B4-BE49-F238E27FC236}">
                <a16:creationId xmlns:a16="http://schemas.microsoft.com/office/drawing/2014/main" id="{38A2C44F-6E3F-80C7-FD36-CBA9D9ECFF9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24" b="55908"/>
          <a:stretch/>
        </p:blipFill>
        <p:spPr>
          <a:xfrm>
            <a:off x="8737450" y="13283018"/>
            <a:ext cx="10423137" cy="3337888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CEA894E-6365-4588-8DB7-29A5D8B475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3803" y="13158248"/>
            <a:ext cx="3284546" cy="142847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C4DA93B-60EE-2A39-4A4F-201B41425A3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6" t="4128" r="11609" b="7227"/>
          <a:stretch/>
        </p:blipFill>
        <p:spPr>
          <a:xfrm rot="21352866">
            <a:off x="3285822" y="12713937"/>
            <a:ext cx="1936655" cy="279579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4637E0D-3C51-6CED-CD2C-BC32F50F4060}"/>
              </a:ext>
            </a:extLst>
          </p:cNvPr>
          <p:cNvSpPr txBox="1"/>
          <p:nvPr/>
        </p:nvSpPr>
        <p:spPr>
          <a:xfrm>
            <a:off x="1080317" y="15570068"/>
            <a:ext cx="5891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AF2 predicted structure of </a:t>
            </a:r>
            <a:r>
              <a:rPr lang="en-US" sz="2400" b="1" dirty="0" err="1">
                <a:latin typeface="Garamond" panose="02020404030301010803" pitchFamily="18" charset="0"/>
              </a:rPr>
              <a:t>GluAVATar</a:t>
            </a:r>
            <a:r>
              <a:rPr lang="en-US" sz="2400" b="1" dirty="0">
                <a:latin typeface="Garamond" panose="02020404030301010803" pitchFamily="18" charset="0"/>
              </a:rPr>
              <a:t> bound to glutamate (red), consisting of</a:t>
            </a:r>
            <a:br>
              <a:rPr lang="en-US" sz="2400" b="1" dirty="0">
                <a:latin typeface="Garamond" panose="02020404030301010803" pitchFamily="18" charset="0"/>
              </a:rPr>
            </a:br>
            <a:r>
              <a:rPr lang="en-US" sz="2400" b="1" dirty="0">
                <a:latin typeface="Garamond" panose="02020404030301010803" pitchFamily="18" charset="0"/>
              </a:rPr>
              <a:t>GltI (green) and PACAP (blue) domains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98DC8287-E15A-23EA-FF20-6B18664AD560}"/>
              </a:ext>
            </a:extLst>
          </p:cNvPr>
          <p:cNvSpPr txBox="1">
            <a:spLocks/>
          </p:cNvSpPr>
          <p:nvPr/>
        </p:nvSpPr>
        <p:spPr>
          <a:xfrm>
            <a:off x="20748172" y="9022594"/>
            <a:ext cx="16867958" cy="7930447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 marL="182875" indent="0" algn="l" defTabSz="438901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38901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7632" indent="-346066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76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27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77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28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789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294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733"/>
          </a:p>
          <a:p>
            <a:endParaRPr lang="en-US" sz="2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DB7559-7184-2937-A4B2-F9E3E6ADA113}"/>
              </a:ext>
            </a:extLst>
          </p:cNvPr>
          <p:cNvSpPr txBox="1"/>
          <p:nvPr/>
        </p:nvSpPr>
        <p:spPr>
          <a:xfrm>
            <a:off x="21042728" y="9150905"/>
            <a:ext cx="157164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Previously, we structurally identified two strategies to engineer the region near the N-terminus of the PACAP to achieve glutamate responsiveness.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6570A50-991B-F193-2E1A-8F41D9995F1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7"/>
          <a:stretch/>
        </p:blipFill>
        <p:spPr>
          <a:xfrm>
            <a:off x="20872624" y="10893543"/>
            <a:ext cx="4739180" cy="344806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E4F0D8F-D762-76E2-2AF5-B46E661285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96609" y="10229739"/>
            <a:ext cx="6848661" cy="56501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D0C7772-A70C-48BF-0BDD-5D257AC7BC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11804" y="10875438"/>
            <a:ext cx="1945660" cy="322523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F6DA074-F510-8F2E-B30C-16589E9D25C7}"/>
              </a:ext>
            </a:extLst>
          </p:cNvPr>
          <p:cNvSpPr txBox="1"/>
          <p:nvPr/>
        </p:nvSpPr>
        <p:spPr>
          <a:xfrm>
            <a:off x="31406600" y="9974989"/>
            <a:ext cx="5876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latin typeface="Garamond" panose="02020404030301010803" pitchFamily="18" charset="0"/>
              </a:rPr>
              <a:t>295’s polar interaction between N292/E294. </a:t>
            </a:r>
          </a:p>
          <a:p>
            <a:pPr algn="r"/>
            <a:r>
              <a:rPr lang="en-US" sz="2400" b="1" dirty="0">
                <a:latin typeface="Garamond" panose="02020404030301010803" pitchFamily="18" charset="0"/>
              </a:rPr>
              <a:t>Green: N-terminus of PACAP, blue: PAC1R.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06EEEEE-411B-58E7-6F3A-BE7627E3D0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9"/>
          <a:stretch/>
        </p:blipFill>
        <p:spPr>
          <a:xfrm>
            <a:off x="32391458" y="10805271"/>
            <a:ext cx="4750511" cy="3713156"/>
          </a:xfrm>
          <a:prstGeom prst="rect">
            <a:avLst/>
          </a:prstGeom>
        </p:spPr>
      </p:pic>
      <p:pic>
        <p:nvPicPr>
          <p:cNvPr id="43" name="Picture 42" descr="A diagram of a solar cell&#10;&#10;Description automatically generated">
            <a:extLst>
              <a:ext uri="{FF2B5EF4-FFF2-40B4-BE49-F238E27FC236}">
                <a16:creationId xmlns:a16="http://schemas.microsoft.com/office/drawing/2014/main" id="{AE18F5FF-0DAE-26CA-6F7D-E5A288DDF86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868063" y="10736642"/>
            <a:ext cx="3590821" cy="249984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FE4B7A7-D264-7523-8296-C930B005B072}"/>
              </a:ext>
            </a:extLst>
          </p:cNvPr>
          <p:cNvSpPr txBox="1"/>
          <p:nvPr/>
        </p:nvSpPr>
        <p:spPr>
          <a:xfrm>
            <a:off x="28141145" y="13354392"/>
            <a:ext cx="3590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latin typeface="Garamond" panose="02020404030301010803" pitchFamily="18" charset="0"/>
              </a:rPr>
              <a:t>GluAVATar</a:t>
            </a:r>
            <a:r>
              <a:rPr lang="en-US" sz="2400" b="1" dirty="0">
                <a:latin typeface="Garamond" panose="02020404030301010803" pitchFamily="18" charset="0"/>
              </a:rPr>
              <a:t> binding  to PAC1R =&gt; Luminescence  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4BB94B7-2556-775A-7B17-A1B4A44262CE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19158"/>
          <a:stretch/>
        </p:blipFill>
        <p:spPr>
          <a:xfrm>
            <a:off x="35363874" y="11076523"/>
            <a:ext cx="1659558" cy="1525262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5CDCD93E-434B-7ED0-FED2-7B636830D18D}"/>
              </a:ext>
            </a:extLst>
          </p:cNvPr>
          <p:cNvSpPr/>
          <p:nvPr/>
        </p:nvSpPr>
        <p:spPr>
          <a:xfrm>
            <a:off x="24440055" y="10350693"/>
            <a:ext cx="1844610" cy="309812"/>
          </a:xfrm>
          <a:prstGeom prst="rect">
            <a:avLst/>
          </a:prstGeom>
          <a:solidFill>
            <a:srgbClr val="00A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PACAP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8BE04D-E9B0-C30C-7181-87E573A0A5B1}"/>
              </a:ext>
            </a:extLst>
          </p:cNvPr>
          <p:cNvSpPr txBox="1"/>
          <p:nvPr/>
        </p:nvSpPr>
        <p:spPr>
          <a:xfrm>
            <a:off x="21042728" y="14536803"/>
            <a:ext cx="117803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We measured vasodilating activity in Chinese hamster ovary (CHO) cells that express PAC1R and cAMP-dependent luciferase.</a:t>
            </a:r>
          </a:p>
          <a:p>
            <a:endParaRPr lang="en-US" sz="3200" dirty="0">
              <a:latin typeface="Garamond" panose="02020404030301010803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4DF46F-8A81-26DA-7921-C8DF10A86375}"/>
              </a:ext>
            </a:extLst>
          </p:cNvPr>
          <p:cNvSpPr txBox="1"/>
          <p:nvPr/>
        </p:nvSpPr>
        <p:spPr>
          <a:xfrm>
            <a:off x="32633460" y="14495123"/>
            <a:ext cx="42665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Polar Interaction Disruption’s Effect on 295 EC50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F04BE6-E453-16C8-AA11-F2533C98B3EA}"/>
              </a:ext>
            </a:extLst>
          </p:cNvPr>
          <p:cNvSpPr txBox="1"/>
          <p:nvPr/>
        </p:nvSpPr>
        <p:spPr>
          <a:xfrm rot="16200000">
            <a:off x="31420831" y="12299932"/>
            <a:ext cx="1418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EC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(M)</a:t>
            </a:r>
          </a:p>
        </p:txBody>
      </p:sp>
      <p:sp>
        <p:nvSpPr>
          <p:cNvPr id="51" name="Content Placeholder 15">
            <a:extLst>
              <a:ext uri="{FF2B5EF4-FFF2-40B4-BE49-F238E27FC236}">
                <a16:creationId xmlns:a16="http://schemas.microsoft.com/office/drawing/2014/main" id="{97C15E42-DCBD-9D1C-58D9-A65D9E352D42}"/>
              </a:ext>
            </a:extLst>
          </p:cNvPr>
          <p:cNvSpPr txBox="1">
            <a:spLocks/>
          </p:cNvSpPr>
          <p:nvPr/>
        </p:nvSpPr>
        <p:spPr>
          <a:xfrm>
            <a:off x="788670" y="17977905"/>
            <a:ext cx="10214039" cy="1547468"/>
          </a:xfrm>
          <a:prstGeom prst="rect">
            <a:avLst/>
          </a:prstGeom>
          <a:solidFill>
            <a:srgbClr val="94B6D2"/>
          </a:solidFill>
        </p:spPr>
        <p:txBody>
          <a:bodyPr lIns="274320" tIns="274320" rIns="274320" bIns="274320" anchor="ctr">
            <a:normAutofit/>
          </a:bodyPr>
          <a:lstStyle>
            <a:lvl1pPr marL="182875" indent="0" algn="l" defTabSz="438901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None/>
              <a:defRPr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93681" indent="0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457189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76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27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77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28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789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294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latin typeface="Garamond" panose="02020404030301010803" pitchFamily="18" charset="0"/>
              </a:rPr>
              <a:t>Tethered-Glutamate Strategy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5C70E90B-C8EA-31B3-F0A7-9925EB539E0B}"/>
              </a:ext>
            </a:extLst>
          </p:cNvPr>
          <p:cNvSpPr txBox="1">
            <a:spLocks/>
          </p:cNvSpPr>
          <p:nvPr/>
        </p:nvSpPr>
        <p:spPr>
          <a:xfrm>
            <a:off x="787296" y="19470056"/>
            <a:ext cx="10214039" cy="8978222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 marL="182875" indent="0" algn="l" defTabSz="438901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38901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7632" indent="-346066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76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27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77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28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789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294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733" dirty="0"/>
          </a:p>
          <a:p>
            <a:endParaRPr lang="en-US" sz="28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E1AEB7-B19B-0F33-4973-6E076A9E1B28}"/>
              </a:ext>
            </a:extLst>
          </p:cNvPr>
          <p:cNvSpPr txBox="1"/>
          <p:nvPr/>
        </p:nvSpPr>
        <p:spPr>
          <a:xfrm>
            <a:off x="925392" y="25561603"/>
            <a:ext cx="84357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We will attach tethered glutamate to PACAP through cysteine-maleimide chemistry: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CCAA3D2-9187-9458-C428-4254347265DB}"/>
              </a:ext>
            </a:extLst>
          </p:cNvPr>
          <p:cNvSpPr/>
          <p:nvPr/>
        </p:nvSpPr>
        <p:spPr>
          <a:xfrm>
            <a:off x="1732455" y="26882540"/>
            <a:ext cx="1680055" cy="48517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PACAP</a:t>
            </a:r>
          </a:p>
        </p:txBody>
      </p:sp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B9D33D0A-6A7D-053B-C23A-778A64DB37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789614"/>
              </p:ext>
            </p:extLst>
          </p:nvPr>
        </p:nvGraphicFramePr>
        <p:xfrm>
          <a:off x="2515163" y="27334633"/>
          <a:ext cx="263761" cy="387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4" imgW="290668" imgH="369757" progId="ChemDraw.Document.6.0">
                  <p:embed/>
                </p:oleObj>
              </mc:Choice>
              <mc:Fallback>
                <p:oleObj name="CS ChemDraw Drawing" r:id="rId14" imgW="290668" imgH="369757" progId="ChemDraw.Document.6.0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B9D33D0A-6A7D-053B-C23A-778A64DB37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15163" y="27334633"/>
                        <a:ext cx="263761" cy="387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15FFFF5A-5FA5-49F9-AE84-6488998602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147995"/>
              </p:ext>
            </p:extLst>
          </p:nvPr>
        </p:nvGraphicFramePr>
        <p:xfrm>
          <a:off x="4536262" y="26723312"/>
          <a:ext cx="936851" cy="811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6" imgW="1031529" imgH="775482" progId="ChemDraw.Document.6.0">
                  <p:embed/>
                </p:oleObj>
              </mc:Choice>
              <mc:Fallback>
                <p:oleObj name="CS ChemDraw Drawing" r:id="rId16" imgW="1031529" imgH="775482" progId="ChemDraw.Document.6.0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15FFFF5A-5FA5-49F9-AE84-6488998602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36262" y="26723312"/>
                        <a:ext cx="936851" cy="811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Isosceles Triangle 6">
            <a:extLst>
              <a:ext uri="{FF2B5EF4-FFF2-40B4-BE49-F238E27FC236}">
                <a16:creationId xmlns:a16="http://schemas.microsoft.com/office/drawing/2014/main" id="{944CD671-E2CE-1767-2929-9C52E55B594C}"/>
              </a:ext>
            </a:extLst>
          </p:cNvPr>
          <p:cNvSpPr/>
          <p:nvPr/>
        </p:nvSpPr>
        <p:spPr>
          <a:xfrm rot="5400000">
            <a:off x="5298434" y="27329415"/>
            <a:ext cx="333467" cy="24904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9C0EC5-FF3D-96AA-A81B-4BE8A6E284F8}"/>
              </a:ext>
            </a:extLst>
          </p:cNvPr>
          <p:cNvSpPr txBox="1"/>
          <p:nvPr/>
        </p:nvSpPr>
        <p:spPr>
          <a:xfrm>
            <a:off x="4613032" y="27657822"/>
            <a:ext cx="1528436" cy="467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Glutamate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32F6E8E-E528-7128-34FA-F26394D8F249}"/>
              </a:ext>
            </a:extLst>
          </p:cNvPr>
          <p:cNvSpPr txBox="1"/>
          <p:nvPr/>
        </p:nvSpPr>
        <p:spPr>
          <a:xfrm>
            <a:off x="3241862" y="26915040"/>
            <a:ext cx="1528436" cy="506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60" name="Arrow: Right 9">
            <a:extLst>
              <a:ext uri="{FF2B5EF4-FFF2-40B4-BE49-F238E27FC236}">
                <a16:creationId xmlns:a16="http://schemas.microsoft.com/office/drawing/2014/main" id="{686DC8B3-7C6C-1EDB-9CE6-15B5FFD0FB07}"/>
              </a:ext>
            </a:extLst>
          </p:cNvPr>
          <p:cNvSpPr/>
          <p:nvPr/>
        </p:nvSpPr>
        <p:spPr>
          <a:xfrm>
            <a:off x="6383640" y="27141466"/>
            <a:ext cx="1079288" cy="195101"/>
          </a:xfrm>
          <a:prstGeom prst="rightArrow">
            <a:avLst>
              <a:gd name="adj1" fmla="val 50000"/>
              <a:gd name="adj2" fmla="val 10843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CE9E35F-C107-A182-2CC6-02A7F2992D7F}"/>
              </a:ext>
            </a:extLst>
          </p:cNvPr>
          <p:cNvSpPr/>
          <p:nvPr/>
        </p:nvSpPr>
        <p:spPr>
          <a:xfrm>
            <a:off x="7941337" y="26613799"/>
            <a:ext cx="1680055" cy="48517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PACAP</a:t>
            </a:r>
          </a:p>
        </p:txBody>
      </p:sp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2F168FD7-D22B-978F-7F7D-7A6BD120C1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108460"/>
              </p:ext>
            </p:extLst>
          </p:nvPr>
        </p:nvGraphicFramePr>
        <p:xfrm>
          <a:off x="8684528" y="27065892"/>
          <a:ext cx="936863" cy="1109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8" imgW="1031170" imgH="1058914" progId="ChemDraw.Document.6.0">
                  <p:embed/>
                </p:oleObj>
              </mc:Choice>
              <mc:Fallback>
                <p:oleObj name="CS ChemDraw Drawing" r:id="rId18" imgW="1031170" imgH="1058914" progId="ChemDraw.Document.6.0">
                  <p:embed/>
                  <p:pic>
                    <p:nvPicPr>
                      <p:cNvPr id="62" name="Object 61">
                        <a:extLst>
                          <a:ext uri="{FF2B5EF4-FFF2-40B4-BE49-F238E27FC236}">
                            <a16:creationId xmlns:a16="http://schemas.microsoft.com/office/drawing/2014/main" id="{2F168FD7-D22B-978F-7F7D-7A6BD120C1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684528" y="27065892"/>
                        <a:ext cx="936863" cy="11095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Isosceles Triangle 16">
            <a:extLst>
              <a:ext uri="{FF2B5EF4-FFF2-40B4-BE49-F238E27FC236}">
                <a16:creationId xmlns:a16="http://schemas.microsoft.com/office/drawing/2014/main" id="{3E71BD08-6292-B376-2B22-BFC2DE52A180}"/>
              </a:ext>
            </a:extLst>
          </p:cNvPr>
          <p:cNvSpPr/>
          <p:nvPr/>
        </p:nvSpPr>
        <p:spPr>
          <a:xfrm rot="5400000">
            <a:off x="9445105" y="28017845"/>
            <a:ext cx="333467" cy="249045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" name="Rectangle 2047">
            <a:extLst>
              <a:ext uri="{FF2B5EF4-FFF2-40B4-BE49-F238E27FC236}">
                <a16:creationId xmlns:a16="http://schemas.microsoft.com/office/drawing/2014/main" id="{F109D7CC-A9AA-A80E-958F-B2E28FEC9E15}"/>
              </a:ext>
            </a:extLst>
          </p:cNvPr>
          <p:cNvSpPr/>
          <p:nvPr/>
        </p:nvSpPr>
        <p:spPr>
          <a:xfrm>
            <a:off x="3659892" y="23557190"/>
            <a:ext cx="1008330" cy="1333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aphicFrame>
        <p:nvGraphicFramePr>
          <p:cNvPr id="2049" name="Object 2048">
            <a:extLst>
              <a:ext uri="{FF2B5EF4-FFF2-40B4-BE49-F238E27FC236}">
                <a16:creationId xmlns:a16="http://schemas.microsoft.com/office/drawing/2014/main" id="{2FF6A4B3-A9C7-1491-67F2-69A4D91EB0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950249"/>
              </p:ext>
            </p:extLst>
          </p:nvPr>
        </p:nvGraphicFramePr>
        <p:xfrm>
          <a:off x="2970556" y="23506814"/>
          <a:ext cx="1246371" cy="300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0" imgW="1680412" imgH="339543" progId="ChemDraw.Document.6.0">
                  <p:embed/>
                </p:oleObj>
              </mc:Choice>
              <mc:Fallback>
                <p:oleObj name="CS ChemDraw Drawing" r:id="rId20" imgW="1680412" imgH="339543" progId="ChemDraw.Document.6.0">
                  <p:embed/>
                  <p:pic>
                    <p:nvPicPr>
                      <p:cNvPr id="2049" name="Object 2048">
                        <a:extLst>
                          <a:ext uri="{FF2B5EF4-FFF2-40B4-BE49-F238E27FC236}">
                            <a16:creationId xmlns:a16="http://schemas.microsoft.com/office/drawing/2014/main" id="{2FF6A4B3-A9C7-1491-67F2-69A4D91EB0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970556" y="23506814"/>
                        <a:ext cx="1246371" cy="300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Isosceles Triangle 8">
            <a:extLst>
              <a:ext uri="{FF2B5EF4-FFF2-40B4-BE49-F238E27FC236}">
                <a16:creationId xmlns:a16="http://schemas.microsoft.com/office/drawing/2014/main" id="{41FEC1E1-B598-21D6-EFAF-04D271671E7E}"/>
              </a:ext>
            </a:extLst>
          </p:cNvPr>
          <p:cNvSpPr/>
          <p:nvPr/>
        </p:nvSpPr>
        <p:spPr>
          <a:xfrm rot="5400000">
            <a:off x="3315785" y="24176251"/>
            <a:ext cx="371341" cy="268513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aphicFrame>
        <p:nvGraphicFramePr>
          <p:cNvPr id="2053" name="Object 2052">
            <a:extLst>
              <a:ext uri="{FF2B5EF4-FFF2-40B4-BE49-F238E27FC236}">
                <a16:creationId xmlns:a16="http://schemas.microsoft.com/office/drawing/2014/main" id="{92297D8E-72E8-A2B6-7E41-79C080F8B9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107272"/>
              </p:ext>
            </p:extLst>
          </p:nvPr>
        </p:nvGraphicFramePr>
        <p:xfrm>
          <a:off x="3412510" y="23669345"/>
          <a:ext cx="324061" cy="388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2" imgW="436900" imgH="438816" progId="ChemDraw.Document.6.0">
                  <p:embed/>
                </p:oleObj>
              </mc:Choice>
              <mc:Fallback>
                <p:oleObj name="CS ChemDraw Drawing" r:id="rId22" imgW="436900" imgH="438816" progId="ChemDraw.Document.6.0">
                  <p:embed/>
                  <p:pic>
                    <p:nvPicPr>
                      <p:cNvPr id="2053" name="Object 2052">
                        <a:extLst>
                          <a:ext uri="{FF2B5EF4-FFF2-40B4-BE49-F238E27FC236}">
                            <a16:creationId xmlns:a16="http://schemas.microsoft.com/office/drawing/2014/main" id="{92297D8E-72E8-A2B6-7E41-79C080F8B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412510" y="23669345"/>
                        <a:ext cx="324061" cy="388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Box 2053">
            <a:extLst>
              <a:ext uri="{FF2B5EF4-FFF2-40B4-BE49-F238E27FC236}">
                <a16:creationId xmlns:a16="http://schemas.microsoft.com/office/drawing/2014/main" id="{A6DF42C0-63A9-78DE-787E-C39A660A6C67}"/>
              </a:ext>
            </a:extLst>
          </p:cNvPr>
          <p:cNvSpPr txBox="1"/>
          <p:nvPr/>
        </p:nvSpPr>
        <p:spPr>
          <a:xfrm>
            <a:off x="2352561" y="24508609"/>
            <a:ext cx="2315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Glutamate</a:t>
            </a:r>
          </a:p>
        </p:txBody>
      </p:sp>
      <p:sp>
        <p:nvSpPr>
          <p:cNvPr id="2055" name="TextBox 2054">
            <a:extLst>
              <a:ext uri="{FF2B5EF4-FFF2-40B4-BE49-F238E27FC236}">
                <a16:creationId xmlns:a16="http://schemas.microsoft.com/office/drawing/2014/main" id="{A020F3EF-19AF-C787-D0E9-9502909F6FF2}"/>
              </a:ext>
            </a:extLst>
          </p:cNvPr>
          <p:cNvSpPr txBox="1"/>
          <p:nvPr/>
        </p:nvSpPr>
        <p:spPr>
          <a:xfrm>
            <a:off x="653836" y="22586345"/>
            <a:ext cx="3124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45E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Inactive</a:t>
            </a:r>
          </a:p>
          <a:p>
            <a:pPr algn="ctr"/>
            <a:r>
              <a:rPr lang="en-US" sz="2400" b="1" dirty="0">
                <a:solidFill>
                  <a:srgbClr val="345E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</a:p>
        </p:txBody>
      </p:sp>
      <p:grpSp>
        <p:nvGrpSpPr>
          <p:cNvPr id="2056" name="Group 2055">
            <a:extLst>
              <a:ext uri="{FF2B5EF4-FFF2-40B4-BE49-F238E27FC236}">
                <a16:creationId xmlns:a16="http://schemas.microsoft.com/office/drawing/2014/main" id="{94DC1DBC-971A-3DD4-2EF6-0FD9045B1458}"/>
              </a:ext>
            </a:extLst>
          </p:cNvPr>
          <p:cNvGrpSpPr/>
          <p:nvPr/>
        </p:nvGrpSpPr>
        <p:grpSpPr>
          <a:xfrm>
            <a:off x="1934470" y="23519873"/>
            <a:ext cx="617614" cy="1092742"/>
            <a:chOff x="2073676" y="3740647"/>
            <a:chExt cx="438964" cy="651449"/>
          </a:xfrm>
        </p:grpSpPr>
        <p:sp>
          <p:nvSpPr>
            <p:cNvPr id="2057" name="Rectangle: Rounded Corners 15">
              <a:extLst>
                <a:ext uri="{FF2B5EF4-FFF2-40B4-BE49-F238E27FC236}">
                  <a16:creationId xmlns:a16="http://schemas.microsoft.com/office/drawing/2014/main" id="{0444A3FB-765B-64E4-5D68-6978FE97DB6F}"/>
                </a:ext>
              </a:extLst>
            </p:cNvPr>
            <p:cNvSpPr/>
            <p:nvPr/>
          </p:nvSpPr>
          <p:spPr>
            <a:xfrm>
              <a:off x="2080026" y="3740647"/>
              <a:ext cx="432614" cy="316442"/>
            </a:xfrm>
            <a:prstGeom prst="roundRect">
              <a:avLst/>
            </a:prstGeom>
            <a:solidFill>
              <a:srgbClr val="00A6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58" name="Rectangle: Rounded Corners 16">
              <a:extLst>
                <a:ext uri="{FF2B5EF4-FFF2-40B4-BE49-F238E27FC236}">
                  <a16:creationId xmlns:a16="http://schemas.microsoft.com/office/drawing/2014/main" id="{A3861050-492A-9C4C-A2F0-738B3ECF13E8}"/>
                </a:ext>
              </a:extLst>
            </p:cNvPr>
            <p:cNvSpPr/>
            <p:nvPr/>
          </p:nvSpPr>
          <p:spPr>
            <a:xfrm>
              <a:off x="2080026" y="4075654"/>
              <a:ext cx="432614" cy="316442"/>
            </a:xfrm>
            <a:prstGeom prst="roundRect">
              <a:avLst/>
            </a:prstGeom>
            <a:solidFill>
              <a:srgbClr val="00A6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59" name="Isosceles Triangle 17">
              <a:extLst>
                <a:ext uri="{FF2B5EF4-FFF2-40B4-BE49-F238E27FC236}">
                  <a16:creationId xmlns:a16="http://schemas.microsoft.com/office/drawing/2014/main" id="{556CA6D2-9FDB-561B-61FE-1C558DE6F22B}"/>
                </a:ext>
              </a:extLst>
            </p:cNvPr>
            <p:cNvSpPr/>
            <p:nvPr/>
          </p:nvSpPr>
          <p:spPr>
            <a:xfrm rot="5400000">
              <a:off x="2056878" y="3961389"/>
              <a:ext cx="243561" cy="20996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6C9C6526-DCA6-F3F4-4989-3F86EB8E4311}"/>
                </a:ext>
              </a:extLst>
            </p:cNvPr>
            <p:cNvSpPr/>
            <p:nvPr/>
          </p:nvSpPr>
          <p:spPr>
            <a:xfrm>
              <a:off x="2267407" y="3985457"/>
              <a:ext cx="245233" cy="196947"/>
            </a:xfrm>
            <a:prstGeom prst="rect">
              <a:avLst/>
            </a:prstGeom>
            <a:solidFill>
              <a:srgbClr val="00A6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061" name="TextBox 2060">
            <a:extLst>
              <a:ext uri="{FF2B5EF4-FFF2-40B4-BE49-F238E27FC236}">
                <a16:creationId xmlns:a16="http://schemas.microsoft.com/office/drawing/2014/main" id="{7E3C39E8-3CCB-FDD2-1480-864F30508CCE}"/>
              </a:ext>
            </a:extLst>
          </p:cNvPr>
          <p:cNvSpPr txBox="1"/>
          <p:nvPr/>
        </p:nvSpPr>
        <p:spPr>
          <a:xfrm>
            <a:off x="3723267" y="24143366"/>
            <a:ext cx="2840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45E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</a:p>
          <a:p>
            <a:pPr algn="ctr"/>
            <a:r>
              <a:rPr lang="en-US" sz="2400" b="1" dirty="0">
                <a:solidFill>
                  <a:srgbClr val="345E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</a:p>
        </p:txBody>
      </p:sp>
      <p:grpSp>
        <p:nvGrpSpPr>
          <p:cNvPr id="2062" name="Group 2061">
            <a:extLst>
              <a:ext uri="{FF2B5EF4-FFF2-40B4-BE49-F238E27FC236}">
                <a16:creationId xmlns:a16="http://schemas.microsoft.com/office/drawing/2014/main" id="{E32D4FFE-5E64-BA08-79DF-13D1E968B05D}"/>
              </a:ext>
            </a:extLst>
          </p:cNvPr>
          <p:cNvGrpSpPr/>
          <p:nvPr/>
        </p:nvGrpSpPr>
        <p:grpSpPr>
          <a:xfrm>
            <a:off x="5643947" y="22540532"/>
            <a:ext cx="5127367" cy="3168610"/>
            <a:chOff x="39358388" y="10360180"/>
            <a:chExt cx="5061783" cy="3297135"/>
          </a:xfrm>
        </p:grpSpPr>
        <p:pic>
          <p:nvPicPr>
            <p:cNvPr id="2063" name="Picture 2062">
              <a:extLst>
                <a:ext uri="{FF2B5EF4-FFF2-40B4-BE49-F238E27FC236}">
                  <a16:creationId xmlns:a16="http://schemas.microsoft.com/office/drawing/2014/main" id="{F44C3550-A593-45CC-5F7F-F05D0C9AA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9751"/>
            <a:stretch/>
          </p:blipFill>
          <p:spPr>
            <a:xfrm>
              <a:off x="39358388" y="10360180"/>
              <a:ext cx="5061783" cy="3297135"/>
            </a:xfrm>
            <a:prstGeom prst="rect">
              <a:avLst/>
            </a:prstGeom>
          </p:spPr>
        </p:pic>
        <p:sp>
          <p:nvSpPr>
            <p:cNvPr id="2064" name="Rectangle 2063">
              <a:extLst>
                <a:ext uri="{FF2B5EF4-FFF2-40B4-BE49-F238E27FC236}">
                  <a16:creationId xmlns:a16="http://schemas.microsoft.com/office/drawing/2014/main" id="{D567CFEF-7295-E14B-893A-5C655CE97692}"/>
                </a:ext>
              </a:extLst>
            </p:cNvPr>
            <p:cNvSpPr/>
            <p:nvPr/>
          </p:nvSpPr>
          <p:spPr>
            <a:xfrm>
              <a:off x="39609296" y="10505325"/>
              <a:ext cx="919653" cy="12506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AC7F2D44-B0B1-F451-86F2-F648D6DA0032}"/>
              </a:ext>
            </a:extLst>
          </p:cNvPr>
          <p:cNvGrpSpPr/>
          <p:nvPr/>
        </p:nvGrpSpPr>
        <p:grpSpPr>
          <a:xfrm>
            <a:off x="4801682" y="22788234"/>
            <a:ext cx="2140518" cy="1198591"/>
            <a:chOff x="4261489" y="3740245"/>
            <a:chExt cx="1352637" cy="651449"/>
          </a:xfrm>
        </p:grpSpPr>
        <p:sp>
          <p:nvSpPr>
            <p:cNvPr id="2066" name="Rectangle 2065">
              <a:extLst>
                <a:ext uri="{FF2B5EF4-FFF2-40B4-BE49-F238E27FC236}">
                  <a16:creationId xmlns:a16="http://schemas.microsoft.com/office/drawing/2014/main" id="{F4CD0791-4E54-1DCA-4B51-A9F883674804}"/>
                </a:ext>
              </a:extLst>
            </p:cNvPr>
            <p:cNvSpPr/>
            <p:nvPr/>
          </p:nvSpPr>
          <p:spPr>
            <a:xfrm rot="5400000">
              <a:off x="5349202" y="3821069"/>
              <a:ext cx="86389" cy="443459"/>
            </a:xfrm>
            <a:prstGeom prst="rect">
              <a:avLst/>
            </a:prstGeom>
            <a:solidFill>
              <a:srgbClr val="00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67" name="Rectangle: Rounded Corners 22">
              <a:extLst>
                <a:ext uri="{FF2B5EF4-FFF2-40B4-BE49-F238E27FC236}">
                  <a16:creationId xmlns:a16="http://schemas.microsoft.com/office/drawing/2014/main" id="{FF2A5061-7380-C078-8D9F-D388A0EEF96D}"/>
                </a:ext>
              </a:extLst>
            </p:cNvPr>
            <p:cNvSpPr/>
            <p:nvPr/>
          </p:nvSpPr>
          <p:spPr>
            <a:xfrm>
              <a:off x="4324272" y="3740245"/>
              <a:ext cx="432614" cy="316442"/>
            </a:xfrm>
            <a:prstGeom prst="roundRect">
              <a:avLst/>
            </a:prstGeom>
            <a:solidFill>
              <a:srgbClr val="00A6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068" name="Rectangle: Rounded Corners 23">
              <a:extLst>
                <a:ext uri="{FF2B5EF4-FFF2-40B4-BE49-F238E27FC236}">
                  <a16:creationId xmlns:a16="http://schemas.microsoft.com/office/drawing/2014/main" id="{975737C4-9888-CF1E-10F7-4C4CB12DE670}"/>
                </a:ext>
              </a:extLst>
            </p:cNvPr>
            <p:cNvSpPr/>
            <p:nvPr/>
          </p:nvSpPr>
          <p:spPr>
            <a:xfrm>
              <a:off x="4324272" y="4075252"/>
              <a:ext cx="432614" cy="316442"/>
            </a:xfrm>
            <a:prstGeom prst="roundRect">
              <a:avLst/>
            </a:prstGeom>
            <a:solidFill>
              <a:srgbClr val="00A6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69" name="Isosceles Triangle 24">
              <a:extLst>
                <a:ext uri="{FF2B5EF4-FFF2-40B4-BE49-F238E27FC236}">
                  <a16:creationId xmlns:a16="http://schemas.microsoft.com/office/drawing/2014/main" id="{6A2008E5-438D-03AC-0712-6BAABB05A2C4}"/>
                </a:ext>
              </a:extLst>
            </p:cNvPr>
            <p:cNvSpPr/>
            <p:nvPr/>
          </p:nvSpPr>
          <p:spPr>
            <a:xfrm rot="5400000">
              <a:off x="4301124" y="3960987"/>
              <a:ext cx="243561" cy="20996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70" name="Isosceles Triangle 25">
              <a:extLst>
                <a:ext uri="{FF2B5EF4-FFF2-40B4-BE49-F238E27FC236}">
                  <a16:creationId xmlns:a16="http://schemas.microsoft.com/office/drawing/2014/main" id="{2140ADA2-F2E4-8096-8F4C-4287A0763782}"/>
                </a:ext>
              </a:extLst>
            </p:cNvPr>
            <p:cNvSpPr/>
            <p:nvPr/>
          </p:nvSpPr>
          <p:spPr>
            <a:xfrm rot="16200000">
              <a:off x="4943723" y="3916223"/>
              <a:ext cx="204296" cy="250321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71" name="Isosceles Triangle 26">
              <a:extLst>
                <a:ext uri="{FF2B5EF4-FFF2-40B4-BE49-F238E27FC236}">
                  <a16:creationId xmlns:a16="http://schemas.microsoft.com/office/drawing/2014/main" id="{CE318879-D911-817E-C9E5-C93BBD68D0CD}"/>
                </a:ext>
              </a:extLst>
            </p:cNvPr>
            <p:cNvSpPr/>
            <p:nvPr/>
          </p:nvSpPr>
          <p:spPr>
            <a:xfrm rot="5400000">
              <a:off x="4244691" y="3957275"/>
              <a:ext cx="243561" cy="209966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72" name="Rectangle 2071">
              <a:extLst>
                <a:ext uri="{FF2B5EF4-FFF2-40B4-BE49-F238E27FC236}">
                  <a16:creationId xmlns:a16="http://schemas.microsoft.com/office/drawing/2014/main" id="{8DABA205-20FE-8E21-4640-4243D33B0200}"/>
                </a:ext>
              </a:extLst>
            </p:cNvPr>
            <p:cNvSpPr/>
            <p:nvPr/>
          </p:nvSpPr>
          <p:spPr>
            <a:xfrm>
              <a:off x="4511653" y="3985457"/>
              <a:ext cx="245233" cy="196947"/>
            </a:xfrm>
            <a:prstGeom prst="rect">
              <a:avLst/>
            </a:prstGeom>
            <a:solidFill>
              <a:srgbClr val="00A6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2073" name="Group 2072">
            <a:extLst>
              <a:ext uri="{FF2B5EF4-FFF2-40B4-BE49-F238E27FC236}">
                <a16:creationId xmlns:a16="http://schemas.microsoft.com/office/drawing/2014/main" id="{E62785B6-E30A-03F9-A8F6-6C999441A78D}"/>
              </a:ext>
            </a:extLst>
          </p:cNvPr>
          <p:cNvGrpSpPr/>
          <p:nvPr/>
        </p:nvGrpSpPr>
        <p:grpSpPr>
          <a:xfrm>
            <a:off x="1101338" y="23840970"/>
            <a:ext cx="1074797" cy="443006"/>
            <a:chOff x="32941830" y="11198697"/>
            <a:chExt cx="866884" cy="357309"/>
          </a:xfrm>
        </p:grpSpPr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AD15FA1F-22F5-C7C7-60B9-8402FD7D3EE6}"/>
                </a:ext>
              </a:extLst>
            </p:cNvPr>
            <p:cNvSpPr/>
            <p:nvPr/>
          </p:nvSpPr>
          <p:spPr>
            <a:xfrm rot="16200000">
              <a:off x="33159531" y="11113569"/>
              <a:ext cx="131712" cy="567113"/>
            </a:xfrm>
            <a:prstGeom prst="rect">
              <a:avLst/>
            </a:prstGeom>
            <a:solidFill>
              <a:srgbClr val="00A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75" name="Isosceles Triangle 25">
              <a:extLst>
                <a:ext uri="{FF2B5EF4-FFF2-40B4-BE49-F238E27FC236}">
                  <a16:creationId xmlns:a16="http://schemas.microsoft.com/office/drawing/2014/main" id="{459AFE58-4052-EF6C-5B2C-B7680E5372AD}"/>
                </a:ext>
              </a:extLst>
            </p:cNvPr>
            <p:cNvSpPr/>
            <p:nvPr/>
          </p:nvSpPr>
          <p:spPr>
            <a:xfrm rot="5400000">
              <a:off x="33480861" y="11228153"/>
              <a:ext cx="357309" cy="298397"/>
            </a:xfrm>
            <a:prstGeom prst="triangle">
              <a:avLst>
                <a:gd name="adj" fmla="val 51841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2076" name="Group 2075">
            <a:extLst>
              <a:ext uri="{FF2B5EF4-FFF2-40B4-BE49-F238E27FC236}">
                <a16:creationId xmlns:a16="http://schemas.microsoft.com/office/drawing/2014/main" id="{949FD57B-B85D-EC8B-559F-2F234B39C34C}"/>
              </a:ext>
            </a:extLst>
          </p:cNvPr>
          <p:cNvGrpSpPr/>
          <p:nvPr/>
        </p:nvGrpSpPr>
        <p:grpSpPr>
          <a:xfrm>
            <a:off x="1133193" y="19784330"/>
            <a:ext cx="9522244" cy="2456319"/>
            <a:chOff x="32997356" y="8190919"/>
            <a:chExt cx="9522244" cy="2456319"/>
          </a:xfrm>
        </p:grpSpPr>
        <p:sp>
          <p:nvSpPr>
            <p:cNvPr id="2077" name="TextBox 2076">
              <a:extLst>
                <a:ext uri="{FF2B5EF4-FFF2-40B4-BE49-F238E27FC236}">
                  <a16:creationId xmlns:a16="http://schemas.microsoft.com/office/drawing/2014/main" id="{6F95333D-FF0A-5C7F-9A63-0FBD465E16F7}"/>
                </a:ext>
              </a:extLst>
            </p:cNvPr>
            <p:cNvSpPr txBox="1"/>
            <p:nvPr/>
          </p:nvSpPr>
          <p:spPr>
            <a:xfrm>
              <a:off x="37822051" y="8622466"/>
              <a:ext cx="4697548" cy="1569660"/>
            </a:xfrm>
            <a:prstGeom prst="rect">
              <a:avLst/>
            </a:prstGeom>
            <a:solidFill>
              <a:srgbClr val="D29B8C"/>
            </a:solidFill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2400" dirty="0">
                  <a:latin typeface="Garamond" panose="02020404030301010803" pitchFamily="18" charset="0"/>
                </a:rPr>
                <a:t>- Free glutamate outcompetes the tethered version for </a:t>
              </a:r>
              <a:r>
                <a:rPr lang="en-US" sz="2400" dirty="0" err="1">
                  <a:latin typeface="Garamond" panose="02020404030301010803" pitchFamily="18" charset="0"/>
                </a:rPr>
                <a:t>GltI</a:t>
              </a:r>
              <a:r>
                <a:rPr lang="en-US" sz="2400" dirty="0">
                  <a:latin typeface="Garamond" panose="02020404030301010803" pitchFamily="18" charset="0"/>
                </a:rPr>
                <a:t> binding.</a:t>
              </a:r>
            </a:p>
            <a:p>
              <a:r>
                <a:rPr lang="en-US" sz="2400" dirty="0">
                  <a:latin typeface="Garamond" panose="02020404030301010803" pitchFamily="18" charset="0"/>
                </a:rPr>
                <a:t>- </a:t>
              </a:r>
              <a:r>
                <a:rPr lang="en-US" sz="2400" dirty="0" err="1">
                  <a:latin typeface="Garamond" panose="02020404030301010803" pitchFamily="18" charset="0"/>
                </a:rPr>
                <a:t>GltI</a:t>
              </a:r>
              <a:r>
                <a:rPr lang="en-US" sz="2400" dirty="0">
                  <a:latin typeface="Garamond" panose="02020404030301010803" pitchFamily="18" charset="0"/>
                </a:rPr>
                <a:t> releases PACAP, freeing it to bind to PAC1R.</a:t>
              </a:r>
            </a:p>
          </p:txBody>
        </p:sp>
        <p:sp>
          <p:nvSpPr>
            <p:cNvPr id="2078" name="TextBox 2077">
              <a:extLst>
                <a:ext uri="{FF2B5EF4-FFF2-40B4-BE49-F238E27FC236}">
                  <a16:creationId xmlns:a16="http://schemas.microsoft.com/office/drawing/2014/main" id="{CA704820-BECC-807F-524B-AA0AC855797D}"/>
                </a:ext>
              </a:extLst>
            </p:cNvPr>
            <p:cNvSpPr txBox="1"/>
            <p:nvPr/>
          </p:nvSpPr>
          <p:spPr>
            <a:xfrm>
              <a:off x="33002685" y="8637232"/>
              <a:ext cx="4819184" cy="156966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txBody>
            <a:bodyPr wrap="squar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sz="2400" dirty="0">
                  <a:latin typeface="Garamond" panose="02020404030301010803" pitchFamily="18" charset="0"/>
                </a:rPr>
                <a:t>Tethered glutamate on PACAP binds to </a:t>
              </a:r>
              <a:r>
                <a:rPr lang="en-US" sz="2400" dirty="0" err="1">
                  <a:latin typeface="Garamond" panose="02020404030301010803" pitchFamily="18" charset="0"/>
                </a:rPr>
                <a:t>GltI</a:t>
              </a:r>
              <a:endParaRPr lang="en-US" sz="2400" dirty="0">
                <a:latin typeface="Garamond" panose="02020404030301010803" pitchFamily="18" charset="0"/>
              </a:endParaRPr>
            </a:p>
            <a:p>
              <a:pPr marL="285750" indent="-285750">
                <a:buFontTx/>
                <a:buChar char="-"/>
              </a:pPr>
              <a:r>
                <a:rPr lang="en-US" sz="2400" dirty="0">
                  <a:latin typeface="Garamond" panose="02020404030301010803" pitchFamily="18" charset="0"/>
                </a:rPr>
                <a:t>prevents PACAP from interacting with PAC1R</a:t>
              </a:r>
            </a:p>
          </p:txBody>
        </p:sp>
        <p:sp>
          <p:nvSpPr>
            <p:cNvPr id="2079" name="TextBox 2078">
              <a:extLst>
                <a:ext uri="{FF2B5EF4-FFF2-40B4-BE49-F238E27FC236}">
                  <a16:creationId xmlns:a16="http://schemas.microsoft.com/office/drawing/2014/main" id="{6053CA1E-5FE4-9391-1AE4-C60558599067}"/>
                </a:ext>
              </a:extLst>
            </p:cNvPr>
            <p:cNvSpPr txBox="1"/>
            <p:nvPr/>
          </p:nvSpPr>
          <p:spPr>
            <a:xfrm>
              <a:off x="32997357" y="8190919"/>
              <a:ext cx="4832408" cy="46166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Garamond" panose="02020404030301010803" pitchFamily="18" charset="0"/>
                </a:rPr>
                <a:t>Low Glutamate Concentrations</a:t>
              </a:r>
            </a:p>
          </p:txBody>
        </p:sp>
        <p:sp>
          <p:nvSpPr>
            <p:cNvPr id="2080" name="TextBox 2079">
              <a:extLst>
                <a:ext uri="{FF2B5EF4-FFF2-40B4-BE49-F238E27FC236}">
                  <a16:creationId xmlns:a16="http://schemas.microsoft.com/office/drawing/2014/main" id="{5B6EEB71-4E8B-F736-2287-86A9951BB666}"/>
                </a:ext>
              </a:extLst>
            </p:cNvPr>
            <p:cNvSpPr txBox="1"/>
            <p:nvPr/>
          </p:nvSpPr>
          <p:spPr>
            <a:xfrm>
              <a:off x="37810440" y="8195504"/>
              <a:ext cx="4709160" cy="461665"/>
            </a:xfrm>
            <a:prstGeom prst="rect">
              <a:avLst/>
            </a:prstGeom>
            <a:solidFill>
              <a:srgbClr val="AB615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Garamond" panose="02020404030301010803" pitchFamily="18" charset="0"/>
                </a:rPr>
                <a:t>High Glutamate Concentrations</a:t>
              </a:r>
            </a:p>
          </p:txBody>
        </p:sp>
        <p:sp>
          <p:nvSpPr>
            <p:cNvPr id="2081" name="TextBox 2080">
              <a:extLst>
                <a:ext uri="{FF2B5EF4-FFF2-40B4-BE49-F238E27FC236}">
                  <a16:creationId xmlns:a16="http://schemas.microsoft.com/office/drawing/2014/main" id="{E592F0AE-7A46-4049-3DC5-800F6991208E}"/>
                </a:ext>
              </a:extLst>
            </p:cNvPr>
            <p:cNvSpPr txBox="1"/>
            <p:nvPr/>
          </p:nvSpPr>
          <p:spPr>
            <a:xfrm>
              <a:off x="32997356" y="10185573"/>
              <a:ext cx="4822981" cy="46166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Garamond" panose="02020404030301010803" pitchFamily="18" charset="0"/>
                </a:rPr>
                <a:t>No vasodilation</a:t>
              </a:r>
              <a:r>
                <a:rPr lang="en-US" sz="2400" dirty="0">
                  <a:solidFill>
                    <a:schemeClr val="bg1"/>
                  </a:solidFill>
                  <a:latin typeface="Garamond" panose="02020404030301010803" pitchFamily="18" charset="0"/>
                </a:rPr>
                <a:t> and MRI signal</a:t>
              </a:r>
            </a:p>
          </p:txBody>
        </p:sp>
        <p:sp>
          <p:nvSpPr>
            <p:cNvPr id="2082" name="TextBox 2081">
              <a:extLst>
                <a:ext uri="{FF2B5EF4-FFF2-40B4-BE49-F238E27FC236}">
                  <a16:creationId xmlns:a16="http://schemas.microsoft.com/office/drawing/2014/main" id="{F00A5BF1-C98E-F083-C263-824A0A8EED6C}"/>
                </a:ext>
              </a:extLst>
            </p:cNvPr>
            <p:cNvSpPr txBox="1"/>
            <p:nvPr/>
          </p:nvSpPr>
          <p:spPr>
            <a:xfrm>
              <a:off x="37820338" y="10182785"/>
              <a:ext cx="4699261" cy="461665"/>
            </a:xfrm>
            <a:prstGeom prst="rect">
              <a:avLst/>
            </a:prstGeom>
            <a:solidFill>
              <a:srgbClr val="AB615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Garamond" panose="02020404030301010803" pitchFamily="18" charset="0"/>
                </a:rPr>
                <a:t>Vasodilation</a:t>
              </a:r>
              <a:r>
                <a:rPr lang="en-US" sz="2400" dirty="0">
                  <a:solidFill>
                    <a:schemeClr val="bg1"/>
                  </a:solidFill>
                  <a:latin typeface="Garamond" panose="02020404030301010803" pitchFamily="18" charset="0"/>
                </a:rPr>
                <a:t> and MRI signal</a:t>
              </a:r>
            </a:p>
          </p:txBody>
        </p:sp>
      </p:grpSp>
      <p:sp>
        <p:nvSpPr>
          <p:cNvPr id="2083" name="TextBox 2082">
            <a:extLst>
              <a:ext uri="{FF2B5EF4-FFF2-40B4-BE49-F238E27FC236}">
                <a16:creationId xmlns:a16="http://schemas.microsoft.com/office/drawing/2014/main" id="{4A672B5E-7D40-4D5C-436F-1C4A0256FD48}"/>
              </a:ext>
            </a:extLst>
          </p:cNvPr>
          <p:cNvSpPr txBox="1"/>
          <p:nvPr/>
        </p:nvSpPr>
        <p:spPr>
          <a:xfrm>
            <a:off x="21062728" y="15696172"/>
            <a:ext cx="162388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Although this approach did not yield glutamate responsiveness, it revealed structure-function insights about vasodilating activity</a:t>
            </a:r>
          </a:p>
          <a:p>
            <a:endParaRPr lang="en-US" sz="3200" dirty="0"/>
          </a:p>
        </p:txBody>
      </p:sp>
      <p:sp>
        <p:nvSpPr>
          <p:cNvPr id="2086" name="Content Placeholder 6">
            <a:extLst>
              <a:ext uri="{FF2B5EF4-FFF2-40B4-BE49-F238E27FC236}">
                <a16:creationId xmlns:a16="http://schemas.microsoft.com/office/drawing/2014/main" id="{BC3459F8-12E2-20DC-9049-AB0358915173}"/>
              </a:ext>
            </a:extLst>
          </p:cNvPr>
          <p:cNvSpPr txBox="1">
            <a:spLocks/>
          </p:cNvSpPr>
          <p:nvPr/>
        </p:nvSpPr>
        <p:spPr>
          <a:xfrm>
            <a:off x="808100" y="7460959"/>
            <a:ext cx="19293648" cy="1600200"/>
          </a:xfrm>
          <a:prstGeom prst="rect">
            <a:avLst/>
          </a:prstGeom>
          <a:solidFill>
            <a:srgbClr val="94B6D2"/>
          </a:solidFill>
        </p:spPr>
        <p:txBody>
          <a:bodyPr lIns="274320" tIns="274320" rIns="274320" bIns="274320" anchor="ctr">
            <a:normAutofit/>
          </a:bodyPr>
          <a:lstStyle>
            <a:lvl1pPr marL="182875" indent="0" algn="l" defTabSz="438901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None/>
              <a:defRPr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93681" indent="0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457189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76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27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77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28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789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294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latin typeface="Garamond" panose="02020404030301010803" pitchFamily="18" charset="0"/>
              </a:rPr>
              <a:t>MRI </a:t>
            </a:r>
            <a:r>
              <a:rPr lang="en-US" sz="4400" dirty="0" err="1">
                <a:latin typeface="Garamond" panose="02020404030301010803" pitchFamily="18" charset="0"/>
              </a:rPr>
              <a:t>Vasoprobe</a:t>
            </a:r>
            <a:r>
              <a:rPr lang="en-US" sz="4400" dirty="0">
                <a:latin typeface="Garamond" panose="02020404030301010803" pitchFamily="18" charset="0"/>
              </a:rPr>
              <a:t> for Glutamate Imaging</a:t>
            </a:r>
          </a:p>
        </p:txBody>
      </p:sp>
      <p:sp>
        <p:nvSpPr>
          <p:cNvPr id="2087" name="Content Placeholder 6">
            <a:extLst>
              <a:ext uri="{FF2B5EF4-FFF2-40B4-BE49-F238E27FC236}">
                <a16:creationId xmlns:a16="http://schemas.microsoft.com/office/drawing/2014/main" id="{81E559DE-8422-7FE0-4E40-8E195AE16CAA}"/>
              </a:ext>
            </a:extLst>
          </p:cNvPr>
          <p:cNvSpPr txBox="1">
            <a:spLocks/>
          </p:cNvSpPr>
          <p:nvPr/>
        </p:nvSpPr>
        <p:spPr>
          <a:xfrm>
            <a:off x="20748172" y="7460959"/>
            <a:ext cx="16867958" cy="1600200"/>
          </a:xfrm>
          <a:prstGeom prst="rect">
            <a:avLst/>
          </a:prstGeom>
          <a:solidFill>
            <a:srgbClr val="94B6D2"/>
          </a:solidFill>
        </p:spPr>
        <p:txBody>
          <a:bodyPr lIns="320040" tIns="320040" rIns="320040" bIns="320040" anchor="ctr"/>
          <a:lstStyle>
            <a:lvl1pPr marL="182875" indent="0" algn="l" defTabSz="438901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None/>
              <a:defRPr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93681" indent="0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457189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76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27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77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28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789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294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latin typeface="Garamond" panose="02020404030301010803" pitchFamily="18" charset="0"/>
              </a:rPr>
              <a:t>Prior PACAP Engineering Approach</a:t>
            </a:r>
          </a:p>
        </p:txBody>
      </p:sp>
      <p:sp>
        <p:nvSpPr>
          <p:cNvPr id="2088" name="Text Placeholder 11">
            <a:extLst>
              <a:ext uri="{FF2B5EF4-FFF2-40B4-BE49-F238E27FC236}">
                <a16:creationId xmlns:a16="http://schemas.microsoft.com/office/drawing/2014/main" id="{10FE81AF-5898-D1F9-66CF-8949F1635654}"/>
              </a:ext>
            </a:extLst>
          </p:cNvPr>
          <p:cNvSpPr txBox="1">
            <a:spLocks/>
          </p:cNvSpPr>
          <p:nvPr/>
        </p:nvSpPr>
        <p:spPr>
          <a:xfrm>
            <a:off x="11613533" y="19199374"/>
            <a:ext cx="26002597" cy="9248903"/>
          </a:xfrm>
          <a:prstGeom prst="rect">
            <a:avLst/>
          </a:prstGeom>
          <a:solidFill>
            <a:schemeClr val="bg1"/>
          </a:solidFill>
        </p:spPr>
        <p:txBody>
          <a:bodyPr lIns="213360" tIns="213360" rIns="213360"/>
          <a:lstStyle>
            <a:lvl1pPr marL="182875" indent="0" algn="l" defTabSz="438901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38901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7632" indent="-346066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76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27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77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28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789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294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67" dirty="0">
              <a:latin typeface="Garamond" panose="02020404030301010803" pitchFamily="18" charset="0"/>
            </a:endParaRPr>
          </a:p>
        </p:txBody>
      </p:sp>
      <p:sp>
        <p:nvSpPr>
          <p:cNvPr id="2089" name="Content Placeholder 15">
            <a:extLst>
              <a:ext uri="{FF2B5EF4-FFF2-40B4-BE49-F238E27FC236}">
                <a16:creationId xmlns:a16="http://schemas.microsoft.com/office/drawing/2014/main" id="{CD3B6F14-CE68-8545-D473-549EE5548E7A}"/>
              </a:ext>
            </a:extLst>
          </p:cNvPr>
          <p:cNvSpPr txBox="1">
            <a:spLocks/>
          </p:cNvSpPr>
          <p:nvPr/>
        </p:nvSpPr>
        <p:spPr>
          <a:xfrm>
            <a:off x="11596938" y="17966004"/>
            <a:ext cx="26019192" cy="1498890"/>
          </a:xfrm>
          <a:prstGeom prst="rect">
            <a:avLst/>
          </a:prstGeom>
          <a:solidFill>
            <a:srgbClr val="94B6D2"/>
          </a:solidFill>
        </p:spPr>
        <p:txBody>
          <a:bodyPr lIns="274320" tIns="274320" rIns="274320" bIns="274320" anchor="ctr">
            <a:normAutofit/>
          </a:bodyPr>
          <a:lstStyle>
            <a:lvl1pPr marL="182875" indent="0" algn="l" defTabSz="438901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None/>
              <a:defRPr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93681" indent="0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457189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76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27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77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28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789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294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4400" dirty="0">
                <a:latin typeface="Garamond" panose="02020404030301010803" pitchFamily="18" charset="0"/>
              </a:rPr>
              <a:t>Cysteine Mutated PACAP-MBP Mutants Design</a:t>
            </a:r>
          </a:p>
        </p:txBody>
      </p:sp>
      <p:sp>
        <p:nvSpPr>
          <p:cNvPr id="2091" name="TextBox 2090">
            <a:extLst>
              <a:ext uri="{FF2B5EF4-FFF2-40B4-BE49-F238E27FC236}">
                <a16:creationId xmlns:a16="http://schemas.microsoft.com/office/drawing/2014/main" id="{9C28B5C5-BD89-E4CE-BBDC-BCE31572D4E0}"/>
              </a:ext>
            </a:extLst>
          </p:cNvPr>
          <p:cNvSpPr txBox="1"/>
          <p:nvPr/>
        </p:nvSpPr>
        <p:spPr>
          <a:xfrm>
            <a:off x="22113199" y="19271111"/>
            <a:ext cx="101554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 </a:t>
            </a:r>
          </a:p>
          <a:p>
            <a:r>
              <a:rPr lang="en-US" sz="3200" dirty="0">
                <a:latin typeface="Garamond" panose="02020404030301010803" pitchFamily="18" charset="0"/>
              </a:rPr>
              <a:t>Based on past literature on PACAP-PAC1R binding, we selected residues for cysteine mutation that avoids decreasing PACAP-PAC1R binding. </a:t>
            </a:r>
          </a:p>
          <a:p>
            <a:endParaRPr lang="en-US" sz="3200" dirty="0">
              <a:latin typeface="Garamond" panose="02020404030301010803" pitchFamily="18" charset="0"/>
            </a:endParaRPr>
          </a:p>
        </p:txBody>
      </p:sp>
      <p:pic>
        <p:nvPicPr>
          <p:cNvPr id="2093" name="Picture 2092">
            <a:extLst>
              <a:ext uri="{FF2B5EF4-FFF2-40B4-BE49-F238E27FC236}">
                <a16:creationId xmlns:a16="http://schemas.microsoft.com/office/drawing/2014/main" id="{4338ED80-7F04-2A8E-F208-5E0BE8805B64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l="7144" t="60721" b="17546"/>
          <a:stretch/>
        </p:blipFill>
        <p:spPr>
          <a:xfrm>
            <a:off x="11789826" y="19848512"/>
            <a:ext cx="10011366" cy="1630971"/>
          </a:xfrm>
          <a:prstGeom prst="rect">
            <a:avLst/>
          </a:prstGeom>
        </p:spPr>
      </p:pic>
      <p:sp>
        <p:nvSpPr>
          <p:cNvPr id="2095" name="TextBox 2094">
            <a:extLst>
              <a:ext uri="{FF2B5EF4-FFF2-40B4-BE49-F238E27FC236}">
                <a16:creationId xmlns:a16="http://schemas.microsoft.com/office/drawing/2014/main" id="{3573AB75-37E3-28A1-0E41-9641DBFB0A77}"/>
              </a:ext>
            </a:extLst>
          </p:cNvPr>
          <p:cNvSpPr txBox="1"/>
          <p:nvPr/>
        </p:nvSpPr>
        <p:spPr>
          <a:xfrm>
            <a:off x="12047072" y="27722274"/>
            <a:ext cx="8525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1B1B1B"/>
                </a:solidFill>
                <a:effectLst/>
                <a:latin typeface="Garamond" panose="02020404030301010803" pitchFamily="18" charset="0"/>
              </a:rPr>
              <a:t>Ohlendorf, R. et al. </a:t>
            </a:r>
            <a:r>
              <a:rPr lang="en-US" sz="2400" b="0" i="1" dirty="0">
                <a:solidFill>
                  <a:srgbClr val="1B1B1B"/>
                </a:solidFill>
                <a:effectLst/>
                <a:latin typeface="Garamond" panose="02020404030301010803" pitchFamily="18" charset="0"/>
              </a:rPr>
              <a:t>Nature communications</a:t>
            </a:r>
            <a:r>
              <a:rPr lang="en-US" sz="2400" b="0" i="0" dirty="0">
                <a:solidFill>
                  <a:srgbClr val="1B1B1B"/>
                </a:solidFill>
                <a:effectLst/>
                <a:latin typeface="Garamond" panose="02020404030301010803" pitchFamily="18" charset="0"/>
              </a:rPr>
              <a:t> vol. 11,1 2399. 13 May. 2020</a:t>
            </a:r>
            <a:r>
              <a:rPr lang="en-US" sz="2400" dirty="0">
                <a:solidFill>
                  <a:srgbClr val="1B1B1B"/>
                </a:solidFill>
                <a:latin typeface="Garamond" panose="02020404030301010803" pitchFamily="18" charset="0"/>
              </a:rPr>
              <a:t>.</a:t>
            </a:r>
            <a:endParaRPr lang="en-US" sz="2400" dirty="0">
              <a:latin typeface="Garamond" panose="02020404030301010803" pitchFamily="18" charset="0"/>
            </a:endParaRPr>
          </a:p>
        </p:txBody>
      </p:sp>
      <p:grpSp>
        <p:nvGrpSpPr>
          <p:cNvPr id="2096" name="Group 2095">
            <a:extLst>
              <a:ext uri="{FF2B5EF4-FFF2-40B4-BE49-F238E27FC236}">
                <a16:creationId xmlns:a16="http://schemas.microsoft.com/office/drawing/2014/main" id="{C5C037C6-336B-AADE-557C-2FABB4136772}"/>
              </a:ext>
            </a:extLst>
          </p:cNvPr>
          <p:cNvGrpSpPr/>
          <p:nvPr/>
        </p:nvGrpSpPr>
        <p:grpSpPr>
          <a:xfrm>
            <a:off x="32026825" y="19947933"/>
            <a:ext cx="5756331" cy="1908885"/>
            <a:chOff x="13884740" y="18931187"/>
            <a:chExt cx="6051732" cy="1750683"/>
          </a:xfrm>
        </p:grpSpPr>
        <p:graphicFrame>
          <p:nvGraphicFramePr>
            <p:cNvPr id="2097" name="Object 2096">
              <a:extLst>
                <a:ext uri="{FF2B5EF4-FFF2-40B4-BE49-F238E27FC236}">
                  <a16:creationId xmlns:a16="http://schemas.microsoft.com/office/drawing/2014/main" id="{37036E7F-2C9D-3C96-5C30-D4812B7641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6012498"/>
                </p:ext>
              </p:extLst>
            </p:nvPr>
          </p:nvGraphicFramePr>
          <p:xfrm>
            <a:off x="14541668" y="19117903"/>
            <a:ext cx="2168256" cy="1019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26" imgW="1758379" imgH="827276" progId="ChemDraw.Document.6.0">
                    <p:embed/>
                  </p:oleObj>
                </mc:Choice>
                <mc:Fallback>
                  <p:oleObj name="CS ChemDraw Drawing" r:id="rId26" imgW="1758379" imgH="827276" progId="ChemDraw.Document.6.0">
                    <p:embed/>
                    <p:pic>
                      <p:nvPicPr>
                        <p:cNvPr id="2097" name="Object 2096">
                          <a:extLst>
                            <a:ext uri="{FF2B5EF4-FFF2-40B4-BE49-F238E27FC236}">
                              <a16:creationId xmlns:a16="http://schemas.microsoft.com/office/drawing/2014/main" id="{37036E7F-2C9D-3C96-5C30-D4812B7641D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4541668" y="19117903"/>
                          <a:ext cx="2168256" cy="10195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98" name="Object 2097">
              <a:extLst>
                <a:ext uri="{FF2B5EF4-FFF2-40B4-BE49-F238E27FC236}">
                  <a16:creationId xmlns:a16="http://schemas.microsoft.com/office/drawing/2014/main" id="{CD0550EA-AEE3-CB2F-1015-160EA16DEE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738042"/>
                </p:ext>
              </p:extLst>
            </p:nvPr>
          </p:nvGraphicFramePr>
          <p:xfrm>
            <a:off x="17045292" y="18931187"/>
            <a:ext cx="1970249" cy="12676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28" imgW="1758379" imgH="1130491" progId="ChemDraw.Document.6.0">
                    <p:embed/>
                  </p:oleObj>
                </mc:Choice>
                <mc:Fallback>
                  <p:oleObj name="CS ChemDraw Drawing" r:id="rId28" imgW="1758379" imgH="1130491" progId="ChemDraw.Document.6.0">
                    <p:embed/>
                    <p:pic>
                      <p:nvPicPr>
                        <p:cNvPr id="2098" name="Object 2097">
                          <a:extLst>
                            <a:ext uri="{FF2B5EF4-FFF2-40B4-BE49-F238E27FC236}">
                              <a16:creationId xmlns:a16="http://schemas.microsoft.com/office/drawing/2014/main" id="{CD0550EA-AEE3-CB2F-1015-160EA16DEE2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17045292" y="18931187"/>
                          <a:ext cx="1970249" cy="126767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99" name="TextBox 2098">
              <a:extLst>
                <a:ext uri="{FF2B5EF4-FFF2-40B4-BE49-F238E27FC236}">
                  <a16:creationId xmlns:a16="http://schemas.microsoft.com/office/drawing/2014/main" id="{B61B4F72-8D10-D731-73B0-CB983D7C6336}"/>
                </a:ext>
              </a:extLst>
            </p:cNvPr>
            <p:cNvSpPr txBox="1"/>
            <p:nvPr/>
          </p:nvSpPr>
          <p:spPr>
            <a:xfrm>
              <a:off x="13884740" y="20241824"/>
              <a:ext cx="3486766" cy="423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Garamond" panose="02020404030301010803" pitchFamily="18" charset="0"/>
                </a:rPr>
                <a:t>Glutamate</a:t>
              </a:r>
            </a:p>
          </p:txBody>
        </p:sp>
        <p:sp>
          <p:nvSpPr>
            <p:cNvPr id="2100" name="TextBox 2099">
              <a:extLst>
                <a:ext uri="{FF2B5EF4-FFF2-40B4-BE49-F238E27FC236}">
                  <a16:creationId xmlns:a16="http://schemas.microsoft.com/office/drawing/2014/main" id="{03B630D0-4B39-F657-AF72-C164B8142034}"/>
                </a:ext>
              </a:extLst>
            </p:cNvPr>
            <p:cNvSpPr txBox="1"/>
            <p:nvPr/>
          </p:nvSpPr>
          <p:spPr>
            <a:xfrm>
              <a:off x="16449706" y="20258467"/>
              <a:ext cx="3486766" cy="423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00FF"/>
                  </a:solidFill>
                  <a:latin typeface="Garamond" panose="02020404030301010803" pitchFamily="18" charset="0"/>
                </a:rPr>
                <a:t>Glutamate Tether</a:t>
              </a:r>
            </a:p>
          </p:txBody>
        </p:sp>
      </p:grpSp>
      <p:pic>
        <p:nvPicPr>
          <p:cNvPr id="2090" name="Picture 2089">
            <a:extLst>
              <a:ext uri="{FF2B5EF4-FFF2-40B4-BE49-F238E27FC236}">
                <a16:creationId xmlns:a16="http://schemas.microsoft.com/office/drawing/2014/main" id="{20C33004-6363-F089-53C3-39897E00E58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2866820" y="21629591"/>
            <a:ext cx="8645676" cy="5034200"/>
          </a:xfrm>
          <a:prstGeom prst="rect">
            <a:avLst/>
          </a:prstGeom>
        </p:spPr>
      </p:pic>
      <p:sp>
        <p:nvSpPr>
          <p:cNvPr id="2101" name="TextBox 2100">
            <a:extLst>
              <a:ext uri="{FF2B5EF4-FFF2-40B4-BE49-F238E27FC236}">
                <a16:creationId xmlns:a16="http://schemas.microsoft.com/office/drawing/2014/main" id="{01C3E607-983B-2008-641E-D32A4F689B82}"/>
              </a:ext>
            </a:extLst>
          </p:cNvPr>
          <p:cNvSpPr txBox="1"/>
          <p:nvPr/>
        </p:nvSpPr>
        <p:spPr>
          <a:xfrm>
            <a:off x="32080695" y="22307710"/>
            <a:ext cx="55520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latin typeface="Garamond" panose="02020404030301010803" pitchFamily="18" charset="0"/>
              </a:rPr>
              <a:t>GltI</a:t>
            </a:r>
            <a:r>
              <a:rPr lang="en-US" sz="2400" b="1" dirty="0">
                <a:latin typeface="Garamond" panose="02020404030301010803" pitchFamily="18" charset="0"/>
              </a:rPr>
              <a:t> Mutants Binding Affinity to Glutamate and Tethered-Glutamate</a:t>
            </a:r>
          </a:p>
        </p:txBody>
      </p:sp>
      <p:pic>
        <p:nvPicPr>
          <p:cNvPr id="2102" name="Picture 2101">
            <a:extLst>
              <a:ext uri="{FF2B5EF4-FFF2-40B4-BE49-F238E27FC236}">
                <a16:creationId xmlns:a16="http://schemas.microsoft.com/office/drawing/2014/main" id="{DF392A9D-3A53-CA33-B3B7-2CA456D8849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4606534" y="18225272"/>
            <a:ext cx="10185098" cy="974101"/>
          </a:xfrm>
          <a:prstGeom prst="rect">
            <a:avLst/>
          </a:prstGeom>
        </p:spPr>
      </p:pic>
      <p:sp>
        <p:nvSpPr>
          <p:cNvPr id="2104" name="TextBox 2103">
            <a:extLst>
              <a:ext uri="{FF2B5EF4-FFF2-40B4-BE49-F238E27FC236}">
                <a16:creationId xmlns:a16="http://schemas.microsoft.com/office/drawing/2014/main" id="{1CF8F854-1F9B-DA0D-E8AE-2F54576B0DCA}"/>
              </a:ext>
            </a:extLst>
          </p:cNvPr>
          <p:cNvSpPr txBox="1"/>
          <p:nvPr/>
        </p:nvSpPr>
        <p:spPr>
          <a:xfrm>
            <a:off x="23415566" y="21530464"/>
            <a:ext cx="7384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Assessing </a:t>
            </a:r>
            <a:r>
              <a:rPr lang="en-US" sz="2400" b="1" dirty="0" err="1">
                <a:latin typeface="Garamond" panose="02020404030301010803" pitchFamily="18" charset="0"/>
              </a:rPr>
              <a:t>GltI</a:t>
            </a:r>
            <a:r>
              <a:rPr lang="en-US" sz="2400" b="1" dirty="0">
                <a:latin typeface="Garamond" panose="02020404030301010803" pitchFamily="18" charset="0"/>
              </a:rPr>
              <a:t> Mutant Binding via Fluorescence</a:t>
            </a:r>
          </a:p>
        </p:txBody>
      </p:sp>
      <p:grpSp>
        <p:nvGrpSpPr>
          <p:cNvPr id="2106" name="Group 2105">
            <a:extLst>
              <a:ext uri="{FF2B5EF4-FFF2-40B4-BE49-F238E27FC236}">
                <a16:creationId xmlns:a16="http://schemas.microsoft.com/office/drawing/2014/main" id="{74701257-591A-37D8-CC51-FB8CF1F49F92}"/>
              </a:ext>
            </a:extLst>
          </p:cNvPr>
          <p:cNvGrpSpPr/>
          <p:nvPr/>
        </p:nvGrpSpPr>
        <p:grpSpPr>
          <a:xfrm>
            <a:off x="12729202" y="23862538"/>
            <a:ext cx="6645525" cy="3815739"/>
            <a:chOff x="1107358" y="27725532"/>
            <a:chExt cx="6050406" cy="3414408"/>
          </a:xfrm>
        </p:grpSpPr>
        <p:pic>
          <p:nvPicPr>
            <p:cNvPr id="2107" name="Picture 2106">
              <a:extLst>
                <a:ext uri="{FF2B5EF4-FFF2-40B4-BE49-F238E27FC236}">
                  <a16:creationId xmlns:a16="http://schemas.microsoft.com/office/drawing/2014/main" id="{4D8A34C8-CC85-02D8-D67D-54746F8B5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214165" y="27725532"/>
              <a:ext cx="5943599" cy="3414408"/>
            </a:xfrm>
            <a:prstGeom prst="rect">
              <a:avLst/>
            </a:prstGeom>
          </p:spPr>
        </p:pic>
        <p:sp>
          <p:nvSpPr>
            <p:cNvPr id="2108" name="Rectangle 2107">
              <a:extLst>
                <a:ext uri="{FF2B5EF4-FFF2-40B4-BE49-F238E27FC236}">
                  <a16:creationId xmlns:a16="http://schemas.microsoft.com/office/drawing/2014/main" id="{59A9C46E-DCEC-4989-24EB-75C738D6F332}"/>
                </a:ext>
              </a:extLst>
            </p:cNvPr>
            <p:cNvSpPr/>
            <p:nvPr/>
          </p:nvSpPr>
          <p:spPr>
            <a:xfrm>
              <a:off x="1107358" y="27806602"/>
              <a:ext cx="530785" cy="5924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9" name="TextBox 2108">
            <a:extLst>
              <a:ext uri="{FF2B5EF4-FFF2-40B4-BE49-F238E27FC236}">
                <a16:creationId xmlns:a16="http://schemas.microsoft.com/office/drawing/2014/main" id="{20E7D616-C3EB-295B-B36D-C261112E46FD}"/>
              </a:ext>
            </a:extLst>
          </p:cNvPr>
          <p:cNvSpPr txBox="1"/>
          <p:nvPr/>
        </p:nvSpPr>
        <p:spPr>
          <a:xfrm>
            <a:off x="11763089" y="21522879"/>
            <a:ext cx="96991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effectLst/>
                <a:latin typeface="Garamond" panose="02020404030301010803" pitchFamily="18" charset="0"/>
              </a:rPr>
              <a:t>The secondary structure for hPAC1-R</a:t>
            </a:r>
            <a:r>
              <a:rPr lang="en-US" sz="2400" baseline="-25000" dirty="0">
                <a:solidFill>
                  <a:schemeClr val="bg1">
                    <a:lumMod val="50000"/>
                  </a:schemeClr>
                </a:solidFill>
                <a:effectLst/>
                <a:latin typeface="Garamond" panose="02020404030301010803" pitchFamily="18" charset="0"/>
              </a:rPr>
              <a:t>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effectLst/>
                <a:latin typeface="Garamond" panose="02020404030301010803" pitchFamily="18" charset="0"/>
              </a:rPr>
              <a:t> is indicated above the sequence. The results from the mutational data are summarized by using open, half-filled, and filled circles to indicate no effect, 3- to 5-fold, and &gt;5-fold decrease in binding, respectively, upon mutation of the residue.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Garamond" panose="02020404030301010803" pitchFamily="18" charset="0"/>
            </a:endParaRPr>
          </a:p>
        </p:txBody>
      </p:sp>
      <p:pic>
        <p:nvPicPr>
          <p:cNvPr id="2110" name="Picture 2109">
            <a:extLst>
              <a:ext uri="{FF2B5EF4-FFF2-40B4-BE49-F238E27FC236}">
                <a16:creationId xmlns:a16="http://schemas.microsoft.com/office/drawing/2014/main" id="{2349DFB2-1720-0915-367E-758A40B50C40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731690" y="23090062"/>
            <a:ext cx="4521200" cy="5219700"/>
          </a:xfrm>
          <a:prstGeom prst="rect">
            <a:avLst/>
          </a:prstGeom>
        </p:spPr>
      </p:pic>
      <p:sp>
        <p:nvSpPr>
          <p:cNvPr id="2094" name="TextBox 2093">
            <a:extLst>
              <a:ext uri="{FF2B5EF4-FFF2-40B4-BE49-F238E27FC236}">
                <a16:creationId xmlns:a16="http://schemas.microsoft.com/office/drawing/2014/main" id="{41182453-B133-8280-B587-7165AB096567}"/>
              </a:ext>
            </a:extLst>
          </p:cNvPr>
          <p:cNvSpPr txBox="1"/>
          <p:nvPr/>
        </p:nvSpPr>
        <p:spPr>
          <a:xfrm>
            <a:off x="12761772" y="23090062"/>
            <a:ext cx="9039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1B1B1B"/>
                </a:solidFill>
                <a:effectLst/>
                <a:latin typeface="Garamond" panose="02020404030301010803" pitchFamily="18" charset="0"/>
              </a:rPr>
              <a:t>Sun, </a:t>
            </a:r>
            <a:r>
              <a:rPr lang="en-US" sz="2400" b="0" i="0" dirty="0" err="1">
                <a:solidFill>
                  <a:srgbClr val="1B1B1B"/>
                </a:solidFill>
                <a:effectLst/>
                <a:latin typeface="Garamond" panose="02020404030301010803" pitchFamily="18" charset="0"/>
              </a:rPr>
              <a:t>Chaohong</a:t>
            </a:r>
            <a:r>
              <a:rPr lang="en-US" sz="2400" b="0" i="0" dirty="0">
                <a:solidFill>
                  <a:srgbClr val="1B1B1B"/>
                </a:solidFill>
                <a:effectLst/>
                <a:latin typeface="Garamond" panose="02020404030301010803" pitchFamily="18" charset="0"/>
              </a:rPr>
              <a:t> et al. </a:t>
            </a:r>
            <a:r>
              <a:rPr lang="en-US" sz="2400" b="0" i="1" dirty="0">
                <a:solidFill>
                  <a:srgbClr val="1B1B1B"/>
                </a:solidFill>
                <a:effectLst/>
                <a:latin typeface="Garamond" panose="02020404030301010803" pitchFamily="18" charset="0"/>
              </a:rPr>
              <a:t>PNAS</a:t>
            </a:r>
            <a:r>
              <a:rPr lang="en-US" sz="2400" b="0" i="0" dirty="0">
                <a:solidFill>
                  <a:srgbClr val="1B1B1B"/>
                </a:solidFill>
                <a:effectLst/>
                <a:latin typeface="Garamond" panose="02020404030301010803" pitchFamily="18" charset="0"/>
              </a:rPr>
              <a:t> vol. 104,19 (2007): 7875-80.</a:t>
            </a:r>
            <a:endParaRPr lang="en-US" sz="2400" dirty="0">
              <a:latin typeface="Garamond" panose="02020404030301010803" pitchFamily="18" charset="0"/>
            </a:endParaRPr>
          </a:p>
        </p:txBody>
      </p:sp>
      <p:sp>
        <p:nvSpPr>
          <p:cNvPr id="2103" name="TextBox 2102">
            <a:extLst>
              <a:ext uri="{FF2B5EF4-FFF2-40B4-BE49-F238E27FC236}">
                <a16:creationId xmlns:a16="http://schemas.microsoft.com/office/drawing/2014/main" id="{B0199E56-6E66-72C5-7EA5-6A911C93DF73}"/>
              </a:ext>
            </a:extLst>
          </p:cNvPr>
          <p:cNvSpPr txBox="1"/>
          <p:nvPr/>
        </p:nvSpPr>
        <p:spPr>
          <a:xfrm>
            <a:off x="11914596" y="23669345"/>
            <a:ext cx="8833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EC50 of Biotin-Tethered PACAP Binding Competitively to </a:t>
            </a:r>
            <a:r>
              <a:rPr lang="en-US" sz="2400" b="1" dirty="0" err="1">
                <a:latin typeface="Garamond" panose="02020404030301010803" pitchFamily="18" charset="0"/>
              </a:rPr>
              <a:t>GltI</a:t>
            </a:r>
            <a:endParaRPr lang="en-US" sz="2400" b="1" dirty="0">
              <a:latin typeface="Garamond" panose="02020404030301010803" pitchFamily="18" charset="0"/>
            </a:endParaRPr>
          </a:p>
        </p:txBody>
      </p:sp>
      <p:sp>
        <p:nvSpPr>
          <p:cNvPr id="2092" name="TextBox 2091">
            <a:extLst>
              <a:ext uri="{FF2B5EF4-FFF2-40B4-BE49-F238E27FC236}">
                <a16:creationId xmlns:a16="http://schemas.microsoft.com/office/drawing/2014/main" id="{3D09A45F-603A-1361-7F22-9671DE8E4811}"/>
              </a:ext>
            </a:extLst>
          </p:cNvPr>
          <p:cNvSpPr txBox="1"/>
          <p:nvPr/>
        </p:nvSpPr>
        <p:spPr>
          <a:xfrm>
            <a:off x="22111926" y="26467725"/>
            <a:ext cx="101554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H197A was selected as the optimal </a:t>
            </a:r>
            <a:r>
              <a:rPr lang="en-US" sz="3200" dirty="0" err="1">
                <a:latin typeface="Garamond" panose="02020404030301010803" pitchFamily="18" charset="0"/>
              </a:rPr>
              <a:t>GltI</a:t>
            </a:r>
            <a:r>
              <a:rPr lang="en-US" sz="3200" dirty="0">
                <a:latin typeface="Garamond" panose="02020404030301010803" pitchFamily="18" charset="0"/>
              </a:rPr>
              <a:t> mutant due to the combination of its glutamate binding profile and robust fluorescence signal. </a:t>
            </a:r>
          </a:p>
        </p:txBody>
      </p:sp>
      <p:sp>
        <p:nvSpPr>
          <p:cNvPr id="2220" name="Content Placeholder 16">
            <a:extLst>
              <a:ext uri="{FF2B5EF4-FFF2-40B4-BE49-F238E27FC236}">
                <a16:creationId xmlns:a16="http://schemas.microsoft.com/office/drawing/2014/main" id="{A0620C0F-5B18-6DC2-E8D8-B55A01D71742}"/>
              </a:ext>
            </a:extLst>
          </p:cNvPr>
          <p:cNvSpPr txBox="1">
            <a:spLocks/>
          </p:cNvSpPr>
          <p:nvPr/>
        </p:nvSpPr>
        <p:spPr>
          <a:xfrm>
            <a:off x="787295" y="29340853"/>
            <a:ext cx="27666681" cy="1371600"/>
          </a:xfrm>
          <a:prstGeom prst="rect">
            <a:avLst/>
          </a:prstGeom>
          <a:solidFill>
            <a:srgbClr val="94B6D2"/>
          </a:solidFill>
        </p:spPr>
        <p:txBody>
          <a:bodyPr vert="horz" lIns="274320" tIns="274320" rIns="274320" bIns="274320" rtlCol="0" anchor="ctr">
            <a:normAutofit/>
          </a:bodyPr>
          <a:lstStyle>
            <a:lvl1pPr marL="213372" indent="0" algn="l" defTabSz="3840480" rtl="0" eaLnBrk="1" latinLnBrk="0" hangingPunct="1">
              <a:lnSpc>
                <a:spcPct val="90000"/>
              </a:lnSpc>
              <a:spcBef>
                <a:spcPts val="4200"/>
              </a:spcBef>
              <a:buFont typeface="Arial" panose="020B0604020202020204" pitchFamily="34" charset="0"/>
              <a:buNone/>
              <a:defRPr sz="1176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656" indent="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None/>
              <a:defRPr sz="10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6861" indent="-533432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8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208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108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56132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8156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40180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322040" indent="-960120" algn="l" defTabSz="3840480" rtl="0" eaLnBrk="1" latinLnBrk="0" hangingPunct="1">
              <a:lnSpc>
                <a:spcPct val="90000"/>
              </a:lnSpc>
              <a:spcBef>
                <a:spcPts val="2100"/>
              </a:spcBef>
              <a:buFont typeface="Arial" panose="020B0604020202020204" pitchFamily="34" charset="0"/>
              <a:buChar char="•"/>
              <a:defRPr sz="7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>
                <a:latin typeface="Garamond" panose="02020404030301010803" pitchFamily="18" charset="0"/>
              </a:rPr>
              <a:t>Evaluating Cysteine Truncation and PACAP Binding in PACAP-MBP Mutants</a:t>
            </a:r>
            <a:endParaRPr lang="en-US" sz="4400" dirty="0">
              <a:latin typeface="Garamond" panose="02020404030301010803" pitchFamily="18" charset="0"/>
            </a:endParaRPr>
          </a:p>
        </p:txBody>
      </p:sp>
      <p:sp>
        <p:nvSpPr>
          <p:cNvPr id="2221" name="Text Placeholder 12">
            <a:extLst>
              <a:ext uri="{FF2B5EF4-FFF2-40B4-BE49-F238E27FC236}">
                <a16:creationId xmlns:a16="http://schemas.microsoft.com/office/drawing/2014/main" id="{51CC5ECF-7A9A-0087-BD58-956C3D001439}"/>
              </a:ext>
            </a:extLst>
          </p:cNvPr>
          <p:cNvSpPr txBox="1">
            <a:spLocks/>
          </p:cNvSpPr>
          <p:nvPr/>
        </p:nvSpPr>
        <p:spPr>
          <a:xfrm>
            <a:off x="757870" y="30704804"/>
            <a:ext cx="27653877" cy="6893429"/>
          </a:xfrm>
          <a:prstGeom prst="rect">
            <a:avLst/>
          </a:prstGeom>
          <a:solidFill>
            <a:schemeClr val="bg1"/>
          </a:solidFill>
        </p:spPr>
        <p:txBody>
          <a:bodyPr lIns="182880" tIns="182880" rIns="182880"/>
          <a:lstStyle>
            <a:lvl1pPr marL="182875" indent="0" algn="l" defTabSz="438901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438901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7632" indent="-346066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76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27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77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28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789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294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733" dirty="0"/>
          </a:p>
          <a:p>
            <a:endParaRPr lang="en-US" sz="2800" dirty="0"/>
          </a:p>
        </p:txBody>
      </p:sp>
      <p:sp>
        <p:nvSpPr>
          <p:cNvPr id="2226" name="Text Placeholder 7">
            <a:extLst>
              <a:ext uri="{FF2B5EF4-FFF2-40B4-BE49-F238E27FC236}">
                <a16:creationId xmlns:a16="http://schemas.microsoft.com/office/drawing/2014/main" id="{7CB7A6B7-2775-FACF-47B5-52A7495410B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9173714" y="36528708"/>
            <a:ext cx="8453721" cy="1069525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Garamond" panose="02020404030301010803" pitchFamily="18" charset="0"/>
                <a:ea typeface="Baskerville" panose="02020502070401020303" pitchFamily="18" charset="0"/>
                <a:cs typeface="Sanskrit Text"/>
              </a:rPr>
              <a:t>This work was supported by NIH U01 EB031641. 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2227" name="Content Placeholder 18">
            <a:extLst>
              <a:ext uri="{FF2B5EF4-FFF2-40B4-BE49-F238E27FC236}">
                <a16:creationId xmlns:a16="http://schemas.microsoft.com/office/drawing/2014/main" id="{723F56E3-B655-2A6F-01E7-348D0C0857D7}"/>
              </a:ext>
            </a:extLst>
          </p:cNvPr>
          <p:cNvSpPr txBox="1">
            <a:spLocks/>
          </p:cNvSpPr>
          <p:nvPr/>
        </p:nvSpPr>
        <p:spPr>
          <a:xfrm>
            <a:off x="29173714" y="35238680"/>
            <a:ext cx="8459118" cy="1276543"/>
          </a:xfrm>
          <a:prstGeom prst="rect">
            <a:avLst/>
          </a:prstGeom>
          <a:solidFill>
            <a:srgbClr val="94B6D2"/>
          </a:solidFill>
        </p:spPr>
        <p:txBody>
          <a:bodyPr lIns="274320" tIns="274320" rIns="274320" bIns="274320" anchor="ctr"/>
          <a:lstStyle>
            <a:lvl1pPr marL="182875" indent="0" algn="l" defTabSz="438901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None/>
              <a:defRPr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93681" indent="0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457189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76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27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77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28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789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294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latin typeface="Garamond" panose="02020404030301010803" pitchFamily="18" charset="0"/>
              </a:rPr>
              <a:t>Acknowledgements</a:t>
            </a:r>
          </a:p>
        </p:txBody>
      </p:sp>
      <p:sp>
        <p:nvSpPr>
          <p:cNvPr id="2229" name="Content Placeholder 18">
            <a:extLst>
              <a:ext uri="{FF2B5EF4-FFF2-40B4-BE49-F238E27FC236}">
                <a16:creationId xmlns:a16="http://schemas.microsoft.com/office/drawing/2014/main" id="{A0987314-8CF3-173A-5658-6EFE233A2168}"/>
              </a:ext>
            </a:extLst>
          </p:cNvPr>
          <p:cNvSpPr txBox="1">
            <a:spLocks/>
          </p:cNvSpPr>
          <p:nvPr/>
        </p:nvSpPr>
        <p:spPr>
          <a:xfrm>
            <a:off x="29154549" y="29340853"/>
            <a:ext cx="8472884" cy="1384547"/>
          </a:xfrm>
          <a:prstGeom prst="rect">
            <a:avLst/>
          </a:prstGeom>
          <a:solidFill>
            <a:srgbClr val="94B6D2"/>
          </a:solidFill>
        </p:spPr>
        <p:txBody>
          <a:bodyPr lIns="274320" tIns="274320" rIns="274320" bIns="274320" anchor="ctr"/>
          <a:lstStyle>
            <a:lvl1pPr marL="182875" indent="0" algn="l" defTabSz="4389010" rtl="0" eaLnBrk="1" latinLnBrk="0" hangingPunct="1">
              <a:lnSpc>
                <a:spcPct val="90000"/>
              </a:lnSpc>
              <a:spcBef>
                <a:spcPts val="4800"/>
              </a:spcBef>
              <a:buFont typeface="Arial" panose="020B0604020202020204" pitchFamily="34" charset="0"/>
              <a:buNone/>
              <a:defRPr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93681" indent="0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457189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76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27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778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283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789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294" indent="-1097253" algn="l" defTabSz="4389010" rtl="0" eaLnBrk="1" latinLnBrk="0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Char char="•"/>
              <a:defRPr sz="8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latin typeface="Garamond" panose="02020404030301010803" pitchFamily="18" charset="0"/>
              </a:rPr>
              <a:t>Future Directions</a:t>
            </a:r>
          </a:p>
        </p:txBody>
      </p:sp>
      <p:sp>
        <p:nvSpPr>
          <p:cNvPr id="2230" name="Content Placeholder 18">
            <a:extLst>
              <a:ext uri="{FF2B5EF4-FFF2-40B4-BE49-F238E27FC236}">
                <a16:creationId xmlns:a16="http://schemas.microsoft.com/office/drawing/2014/main" id="{83691E24-4615-C669-7A0B-63B2F976F24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173714" y="30737990"/>
            <a:ext cx="8472884" cy="3912434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3200" dirty="0">
                <a:latin typeface="Garamond" panose="02020404030301010803" pitchFamily="18" charset="0"/>
              </a:rPr>
              <a:t>Attach glutamate to cysteine mutants.</a:t>
            </a:r>
          </a:p>
          <a:p>
            <a:pPr marL="514350" indent="-514350">
              <a:buAutoNum type="arabicPeriod"/>
            </a:pPr>
            <a:r>
              <a:rPr lang="en-US" sz="3200" dirty="0">
                <a:latin typeface="Garamond" panose="02020404030301010803" pitchFamily="18" charset="0"/>
              </a:rPr>
              <a:t>Test glutamate dependent mutant activity in CHO cell luminescence assay. </a:t>
            </a:r>
          </a:p>
          <a:p>
            <a:pPr marL="514350" indent="-514350">
              <a:buAutoNum type="arabicPeriod"/>
            </a:pPr>
            <a:r>
              <a:rPr lang="en-US" sz="3200" dirty="0">
                <a:latin typeface="Garamond" panose="02020404030301010803" pitchFamily="18" charset="0"/>
              </a:rPr>
              <a:t>Design and test fusion design (tethered glutamate PACAP fused to </a:t>
            </a:r>
            <a:r>
              <a:rPr lang="en-US" sz="3200" dirty="0" err="1">
                <a:latin typeface="Garamond" panose="02020404030301010803" pitchFamily="18" charset="0"/>
              </a:rPr>
              <a:t>GltI</a:t>
            </a:r>
            <a:r>
              <a:rPr lang="en-US" sz="3200" dirty="0">
                <a:latin typeface="Garamond" panose="02020404030301010803" pitchFamily="18" charset="0"/>
              </a:rPr>
              <a:t>)</a:t>
            </a:r>
          </a:p>
          <a:p>
            <a:pPr marL="514350" indent="-514350">
              <a:buAutoNum type="arabicPeriod"/>
            </a:pPr>
            <a:r>
              <a:rPr lang="en-US" sz="3200" dirty="0">
                <a:latin typeface="Garamond" panose="02020404030301010803" pitchFamily="18" charset="0"/>
              </a:rPr>
              <a:t>Delivering the product across the blood-brain-barrier. </a:t>
            </a:r>
          </a:p>
          <a:p>
            <a:endParaRPr lang="en-US" sz="3200" dirty="0">
              <a:latin typeface="Garamond" panose="02020404030301010803" pitchFamily="18" charset="0"/>
            </a:endParaRPr>
          </a:p>
        </p:txBody>
      </p:sp>
      <p:sp>
        <p:nvSpPr>
          <p:cNvPr id="2231" name="TextBox 2230">
            <a:extLst>
              <a:ext uri="{FF2B5EF4-FFF2-40B4-BE49-F238E27FC236}">
                <a16:creationId xmlns:a16="http://schemas.microsoft.com/office/drawing/2014/main" id="{8A5F7ED0-9182-BAA9-327C-A8E84ADB76A2}"/>
              </a:ext>
            </a:extLst>
          </p:cNvPr>
          <p:cNvSpPr txBox="1"/>
          <p:nvPr/>
        </p:nvSpPr>
        <p:spPr>
          <a:xfrm>
            <a:off x="1219451" y="35798472"/>
            <a:ext cx="72577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We expressed mutants and observed smaller bands from the gel and suspected cysteine truncation from expressing in </a:t>
            </a:r>
            <a:r>
              <a:rPr lang="en-US" sz="3200" i="1" dirty="0">
                <a:latin typeface="Garamond" panose="02020404030301010803" pitchFamily="18" charset="0"/>
              </a:rPr>
              <a:t>E. coli</a:t>
            </a:r>
            <a:r>
              <a:rPr lang="en-US" sz="3200" dirty="0">
                <a:latin typeface="Garamond" panose="02020404030301010803" pitchFamily="18" charset="0"/>
              </a:rPr>
              <a:t>. </a:t>
            </a:r>
          </a:p>
        </p:txBody>
      </p:sp>
      <p:sp>
        <p:nvSpPr>
          <p:cNvPr id="2232" name="TextBox 2231">
            <a:extLst>
              <a:ext uri="{FF2B5EF4-FFF2-40B4-BE49-F238E27FC236}">
                <a16:creationId xmlns:a16="http://schemas.microsoft.com/office/drawing/2014/main" id="{C994762C-29CE-1E2D-257B-2DA8E41A8DE9}"/>
              </a:ext>
            </a:extLst>
          </p:cNvPr>
          <p:cNvSpPr txBox="1"/>
          <p:nvPr/>
        </p:nvSpPr>
        <p:spPr>
          <a:xfrm>
            <a:off x="19819093" y="36306773"/>
            <a:ext cx="83522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A18C retained sufficient PAC1R activity for functional testing, supporting its use in future steps.</a:t>
            </a:r>
          </a:p>
        </p:txBody>
      </p:sp>
      <p:sp>
        <p:nvSpPr>
          <p:cNvPr id="2233" name="TextBox 2232">
            <a:extLst>
              <a:ext uri="{FF2B5EF4-FFF2-40B4-BE49-F238E27FC236}">
                <a16:creationId xmlns:a16="http://schemas.microsoft.com/office/drawing/2014/main" id="{7DAFF0FC-FFC3-3314-14CA-F16A0C23CC88}"/>
              </a:ext>
            </a:extLst>
          </p:cNvPr>
          <p:cNvSpPr txBox="1"/>
          <p:nvPr/>
        </p:nvSpPr>
        <p:spPr>
          <a:xfrm>
            <a:off x="1779218" y="34506022"/>
            <a:ext cx="47840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Protein Polyacrylamide Gel of Cysteine—PACAP mutants</a:t>
            </a:r>
          </a:p>
          <a:p>
            <a:r>
              <a:rPr lang="en-US" sz="2400" b="1" dirty="0">
                <a:latin typeface="Garamond" panose="02020404030301010803" pitchFamily="18" charset="0"/>
              </a:rPr>
              <a:t>		Major bands ~ 48kD</a:t>
            </a:r>
          </a:p>
        </p:txBody>
      </p:sp>
      <p:pic>
        <p:nvPicPr>
          <p:cNvPr id="2234" name="Picture 2233">
            <a:extLst>
              <a:ext uri="{FF2B5EF4-FFF2-40B4-BE49-F238E27FC236}">
                <a16:creationId xmlns:a16="http://schemas.microsoft.com/office/drawing/2014/main" id="{68DC8879-1960-9622-A4BA-153CD2D9F80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15702" y="30874910"/>
            <a:ext cx="6535488" cy="5105551"/>
          </a:xfrm>
          <a:prstGeom prst="rect">
            <a:avLst/>
          </a:prstGeom>
        </p:spPr>
      </p:pic>
      <p:sp>
        <p:nvSpPr>
          <p:cNvPr id="2235" name="TextBox 2234">
            <a:extLst>
              <a:ext uri="{FF2B5EF4-FFF2-40B4-BE49-F238E27FC236}">
                <a16:creationId xmlns:a16="http://schemas.microsoft.com/office/drawing/2014/main" id="{705F772A-EA3D-4C16-C2AB-9478A1B167A6}"/>
              </a:ext>
            </a:extLst>
          </p:cNvPr>
          <p:cNvSpPr txBox="1"/>
          <p:nvPr/>
        </p:nvSpPr>
        <p:spPr>
          <a:xfrm>
            <a:off x="9572141" y="35804968"/>
            <a:ext cx="4949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MALDI Spectrum</a:t>
            </a:r>
          </a:p>
        </p:txBody>
      </p:sp>
      <p:sp>
        <p:nvSpPr>
          <p:cNvPr id="2236" name="TextBox 2235">
            <a:extLst>
              <a:ext uri="{FF2B5EF4-FFF2-40B4-BE49-F238E27FC236}">
                <a16:creationId xmlns:a16="http://schemas.microsoft.com/office/drawing/2014/main" id="{FEC08A81-41EE-9F62-E322-E39E205EFD00}"/>
              </a:ext>
            </a:extLst>
          </p:cNvPr>
          <p:cNvSpPr txBox="1"/>
          <p:nvPr/>
        </p:nvSpPr>
        <p:spPr>
          <a:xfrm>
            <a:off x="3869707" y="34093661"/>
            <a:ext cx="6633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S2C  G4C   D8C 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Y10C  S11C R12C Y13C  R14C A18C K20C K</a:t>
            </a:r>
            <a:r>
              <a:rPr lang="en-US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21C K32C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7" name="TextBox 2236">
            <a:extLst>
              <a:ext uri="{FF2B5EF4-FFF2-40B4-BE49-F238E27FC236}">
                <a16:creationId xmlns:a16="http://schemas.microsoft.com/office/drawing/2014/main" id="{82C391DD-604E-14E9-57D8-9C6160E0857F}"/>
              </a:ext>
            </a:extLst>
          </p:cNvPr>
          <p:cNvSpPr txBox="1"/>
          <p:nvPr/>
        </p:nvSpPr>
        <p:spPr>
          <a:xfrm>
            <a:off x="15807662" y="31632846"/>
            <a:ext cx="39918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We verified cysteine presence using Ellman’s Assay. Signal was detected in S2C while no signal was detected in PACAP-MBP (negative control)</a:t>
            </a:r>
          </a:p>
        </p:txBody>
      </p:sp>
      <p:grpSp>
        <p:nvGrpSpPr>
          <p:cNvPr id="2238" name="Group 2237">
            <a:extLst>
              <a:ext uri="{FF2B5EF4-FFF2-40B4-BE49-F238E27FC236}">
                <a16:creationId xmlns:a16="http://schemas.microsoft.com/office/drawing/2014/main" id="{D540AB58-7AB3-6563-5554-F99DD55939B2}"/>
              </a:ext>
            </a:extLst>
          </p:cNvPr>
          <p:cNvGrpSpPr/>
          <p:nvPr/>
        </p:nvGrpSpPr>
        <p:grpSpPr>
          <a:xfrm>
            <a:off x="1151313" y="30977458"/>
            <a:ext cx="7301435" cy="3283832"/>
            <a:chOff x="22900126" y="18920633"/>
            <a:chExt cx="7301435" cy="3283832"/>
          </a:xfrm>
        </p:grpSpPr>
        <p:grpSp>
          <p:nvGrpSpPr>
            <p:cNvPr id="2239" name="Group 2238">
              <a:extLst>
                <a:ext uri="{FF2B5EF4-FFF2-40B4-BE49-F238E27FC236}">
                  <a16:creationId xmlns:a16="http://schemas.microsoft.com/office/drawing/2014/main" id="{98E1B4F4-6DCC-8882-84DB-46AC0F63581F}"/>
                </a:ext>
              </a:extLst>
            </p:cNvPr>
            <p:cNvGrpSpPr/>
            <p:nvPr/>
          </p:nvGrpSpPr>
          <p:grpSpPr>
            <a:xfrm>
              <a:off x="22900126" y="18920633"/>
              <a:ext cx="6628895" cy="3283832"/>
              <a:chOff x="23269803" y="20377847"/>
              <a:chExt cx="5183151" cy="2300724"/>
            </a:xfrm>
          </p:grpSpPr>
          <p:pic>
            <p:nvPicPr>
              <p:cNvPr id="2251" name="Picture 4">
                <a:extLst>
                  <a:ext uri="{FF2B5EF4-FFF2-40B4-BE49-F238E27FC236}">
                    <a16:creationId xmlns:a16="http://schemas.microsoft.com/office/drawing/2014/main" id="{7F66A57E-1C6E-4C1F-C9C4-DB6732F7F4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04" t="4705" r="56461" b="8773"/>
              <a:stretch/>
            </p:blipFill>
            <p:spPr bwMode="auto">
              <a:xfrm rot="5400000">
                <a:off x="24160518" y="19489431"/>
                <a:ext cx="2290672" cy="40721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52" name="Picture 4">
                <a:extLst>
                  <a:ext uri="{FF2B5EF4-FFF2-40B4-BE49-F238E27FC236}">
                    <a16:creationId xmlns:a16="http://schemas.microsoft.com/office/drawing/2014/main" id="{51952514-59AE-C66F-3A23-2DC7792076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917" t="13211" r="115" b="57797"/>
              <a:stretch/>
            </p:blipFill>
            <p:spPr bwMode="auto">
              <a:xfrm rot="5400000">
                <a:off x="26392205" y="20861615"/>
                <a:ext cx="2300724" cy="13331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53" name="Picture 4">
                <a:extLst>
                  <a:ext uri="{FF2B5EF4-FFF2-40B4-BE49-F238E27FC236}">
                    <a16:creationId xmlns:a16="http://schemas.microsoft.com/office/drawing/2014/main" id="{7B67C922-300E-1017-D89F-98EC7877FD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05" t="6841" r="56461" b="85199"/>
              <a:stretch/>
            </p:blipFill>
            <p:spPr bwMode="auto">
              <a:xfrm rot="5400000">
                <a:off x="27120312" y="21338176"/>
                <a:ext cx="2290674" cy="3746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40" name="Group 2239">
              <a:extLst>
                <a:ext uri="{FF2B5EF4-FFF2-40B4-BE49-F238E27FC236}">
                  <a16:creationId xmlns:a16="http://schemas.microsoft.com/office/drawing/2014/main" id="{2FAFBD44-9C60-08C3-C1B3-61BDA3EF7E03}"/>
                </a:ext>
              </a:extLst>
            </p:cNvPr>
            <p:cNvGrpSpPr/>
            <p:nvPr/>
          </p:nvGrpSpPr>
          <p:grpSpPr>
            <a:xfrm>
              <a:off x="29462332" y="19027409"/>
              <a:ext cx="739229" cy="3040397"/>
              <a:chOff x="29607696" y="18994702"/>
              <a:chExt cx="739229" cy="3040397"/>
            </a:xfrm>
          </p:grpSpPr>
          <p:sp>
            <p:nvSpPr>
              <p:cNvPr id="2241" name="TextBox 2240">
                <a:extLst>
                  <a:ext uri="{FF2B5EF4-FFF2-40B4-BE49-F238E27FC236}">
                    <a16:creationId xmlns:a16="http://schemas.microsoft.com/office/drawing/2014/main" id="{073131F6-59E5-3867-A4BA-4188F139BAB7}"/>
                  </a:ext>
                </a:extLst>
              </p:cNvPr>
              <p:cNvSpPr txBox="1"/>
              <p:nvPr/>
            </p:nvSpPr>
            <p:spPr>
              <a:xfrm>
                <a:off x="29643495" y="21727322"/>
                <a:ext cx="703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10kD</a:t>
                </a:r>
              </a:p>
            </p:txBody>
          </p:sp>
          <p:sp>
            <p:nvSpPr>
              <p:cNvPr id="2242" name="TextBox 2241">
                <a:extLst>
                  <a:ext uri="{FF2B5EF4-FFF2-40B4-BE49-F238E27FC236}">
                    <a16:creationId xmlns:a16="http://schemas.microsoft.com/office/drawing/2014/main" id="{D8337964-D550-584B-D954-2AA8DA30C926}"/>
                  </a:ext>
                </a:extLst>
              </p:cNvPr>
              <p:cNvSpPr txBox="1"/>
              <p:nvPr/>
            </p:nvSpPr>
            <p:spPr>
              <a:xfrm>
                <a:off x="29643495" y="21474958"/>
                <a:ext cx="703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15kD</a:t>
                </a:r>
              </a:p>
            </p:txBody>
          </p:sp>
          <p:sp>
            <p:nvSpPr>
              <p:cNvPr id="2243" name="TextBox 2242">
                <a:extLst>
                  <a:ext uri="{FF2B5EF4-FFF2-40B4-BE49-F238E27FC236}">
                    <a16:creationId xmlns:a16="http://schemas.microsoft.com/office/drawing/2014/main" id="{7254A428-1799-33C1-553F-5F001DDEE79A}"/>
                  </a:ext>
                </a:extLst>
              </p:cNvPr>
              <p:cNvSpPr txBox="1"/>
              <p:nvPr/>
            </p:nvSpPr>
            <p:spPr>
              <a:xfrm>
                <a:off x="29643495" y="21237820"/>
                <a:ext cx="703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20kD</a:t>
                </a:r>
              </a:p>
            </p:txBody>
          </p:sp>
          <p:sp>
            <p:nvSpPr>
              <p:cNvPr id="2244" name="TextBox 2243">
                <a:extLst>
                  <a:ext uri="{FF2B5EF4-FFF2-40B4-BE49-F238E27FC236}">
                    <a16:creationId xmlns:a16="http://schemas.microsoft.com/office/drawing/2014/main" id="{87668779-AD7B-1275-500F-75FD847AA0E6}"/>
                  </a:ext>
                </a:extLst>
              </p:cNvPr>
              <p:cNvSpPr txBox="1"/>
              <p:nvPr/>
            </p:nvSpPr>
            <p:spPr>
              <a:xfrm>
                <a:off x="29643495" y="21017660"/>
                <a:ext cx="703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25kD</a:t>
                </a:r>
              </a:p>
            </p:txBody>
          </p:sp>
          <p:sp>
            <p:nvSpPr>
              <p:cNvPr id="2245" name="TextBox 2244">
                <a:extLst>
                  <a:ext uri="{FF2B5EF4-FFF2-40B4-BE49-F238E27FC236}">
                    <a16:creationId xmlns:a16="http://schemas.microsoft.com/office/drawing/2014/main" id="{B2C6C1EA-F6C8-AB82-8F52-8161CC939E3E}"/>
                  </a:ext>
                </a:extLst>
              </p:cNvPr>
              <p:cNvSpPr txBox="1"/>
              <p:nvPr/>
            </p:nvSpPr>
            <p:spPr>
              <a:xfrm>
                <a:off x="29643495" y="20640229"/>
                <a:ext cx="703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37kD</a:t>
                </a:r>
              </a:p>
            </p:txBody>
          </p:sp>
          <p:sp>
            <p:nvSpPr>
              <p:cNvPr id="2246" name="TextBox 2245">
                <a:extLst>
                  <a:ext uri="{FF2B5EF4-FFF2-40B4-BE49-F238E27FC236}">
                    <a16:creationId xmlns:a16="http://schemas.microsoft.com/office/drawing/2014/main" id="{7187C019-ED70-0157-7D56-B0CA8353F420}"/>
                  </a:ext>
                </a:extLst>
              </p:cNvPr>
              <p:cNvSpPr txBox="1"/>
              <p:nvPr/>
            </p:nvSpPr>
            <p:spPr>
              <a:xfrm>
                <a:off x="29643495" y="20279538"/>
                <a:ext cx="703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50kD</a:t>
                </a:r>
              </a:p>
            </p:txBody>
          </p:sp>
          <p:sp>
            <p:nvSpPr>
              <p:cNvPr id="2247" name="TextBox 2246">
                <a:extLst>
                  <a:ext uri="{FF2B5EF4-FFF2-40B4-BE49-F238E27FC236}">
                    <a16:creationId xmlns:a16="http://schemas.microsoft.com/office/drawing/2014/main" id="{B5C3D956-13D9-94D6-B4B0-39E39B3A8D20}"/>
                  </a:ext>
                </a:extLst>
              </p:cNvPr>
              <p:cNvSpPr txBox="1"/>
              <p:nvPr/>
            </p:nvSpPr>
            <p:spPr>
              <a:xfrm>
                <a:off x="29643495" y="19913719"/>
                <a:ext cx="703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75kD</a:t>
                </a:r>
              </a:p>
            </p:txBody>
          </p:sp>
          <p:sp>
            <p:nvSpPr>
              <p:cNvPr id="2248" name="TextBox 2247">
                <a:extLst>
                  <a:ext uri="{FF2B5EF4-FFF2-40B4-BE49-F238E27FC236}">
                    <a16:creationId xmlns:a16="http://schemas.microsoft.com/office/drawing/2014/main" id="{E1F9C76B-2DDC-4D8B-76D4-7BDCFCFF1AF3}"/>
                  </a:ext>
                </a:extLst>
              </p:cNvPr>
              <p:cNvSpPr txBox="1"/>
              <p:nvPr/>
            </p:nvSpPr>
            <p:spPr>
              <a:xfrm>
                <a:off x="29609646" y="19587576"/>
                <a:ext cx="703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100kD</a:t>
                </a:r>
              </a:p>
            </p:txBody>
          </p:sp>
          <p:sp>
            <p:nvSpPr>
              <p:cNvPr id="2249" name="TextBox 2248">
                <a:extLst>
                  <a:ext uri="{FF2B5EF4-FFF2-40B4-BE49-F238E27FC236}">
                    <a16:creationId xmlns:a16="http://schemas.microsoft.com/office/drawing/2014/main" id="{B6A3DCCA-EB3A-3442-C031-2F4010465941}"/>
                  </a:ext>
                </a:extLst>
              </p:cNvPr>
              <p:cNvSpPr txBox="1"/>
              <p:nvPr/>
            </p:nvSpPr>
            <p:spPr>
              <a:xfrm>
                <a:off x="29609646" y="19339122"/>
                <a:ext cx="703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150kD</a:t>
                </a:r>
              </a:p>
            </p:txBody>
          </p:sp>
          <p:sp>
            <p:nvSpPr>
              <p:cNvPr id="2250" name="TextBox 2249">
                <a:extLst>
                  <a:ext uri="{FF2B5EF4-FFF2-40B4-BE49-F238E27FC236}">
                    <a16:creationId xmlns:a16="http://schemas.microsoft.com/office/drawing/2014/main" id="{40CA2715-2EC5-A5F6-0994-92A18B701A5D}"/>
                  </a:ext>
                </a:extLst>
              </p:cNvPr>
              <p:cNvSpPr txBox="1"/>
              <p:nvPr/>
            </p:nvSpPr>
            <p:spPr>
              <a:xfrm>
                <a:off x="29607696" y="18994702"/>
                <a:ext cx="70343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250kD</a:t>
                </a:r>
              </a:p>
            </p:txBody>
          </p:sp>
        </p:grpSp>
      </p:grpSp>
      <p:grpSp>
        <p:nvGrpSpPr>
          <p:cNvPr id="2254" name="Group 2253">
            <a:extLst>
              <a:ext uri="{FF2B5EF4-FFF2-40B4-BE49-F238E27FC236}">
                <a16:creationId xmlns:a16="http://schemas.microsoft.com/office/drawing/2014/main" id="{F38E7286-77AC-1CE0-8BFD-93F184F30EEC}"/>
              </a:ext>
            </a:extLst>
          </p:cNvPr>
          <p:cNvGrpSpPr/>
          <p:nvPr/>
        </p:nvGrpSpPr>
        <p:grpSpPr>
          <a:xfrm>
            <a:off x="19644383" y="31236364"/>
            <a:ext cx="8687990" cy="4982193"/>
            <a:chOff x="1894042" y="709709"/>
            <a:chExt cx="4839027" cy="2554445"/>
          </a:xfrm>
        </p:grpSpPr>
        <p:sp>
          <p:nvSpPr>
            <p:cNvPr id="2255" name="Rectangle 2254">
              <a:extLst>
                <a:ext uri="{FF2B5EF4-FFF2-40B4-BE49-F238E27FC236}">
                  <a16:creationId xmlns:a16="http://schemas.microsoft.com/office/drawing/2014/main" id="{A50ED9A8-F380-845F-9D2D-333C38D819A4}"/>
                </a:ext>
              </a:extLst>
            </p:cNvPr>
            <p:cNvSpPr/>
            <p:nvPr/>
          </p:nvSpPr>
          <p:spPr>
            <a:xfrm>
              <a:off x="2102738" y="2645391"/>
              <a:ext cx="399473" cy="1785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lang="en-US" sz="2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−12</a:t>
              </a:r>
            </a:p>
          </p:txBody>
        </p:sp>
        <p:sp>
          <p:nvSpPr>
            <p:cNvPr id="2256" name="Rectangle 2255">
              <a:extLst>
                <a:ext uri="{FF2B5EF4-FFF2-40B4-BE49-F238E27FC236}">
                  <a16:creationId xmlns:a16="http://schemas.microsoft.com/office/drawing/2014/main" id="{6E83A2F1-B15F-6E3E-67B3-53AB23788F06}"/>
                </a:ext>
              </a:extLst>
            </p:cNvPr>
            <p:cNvSpPr/>
            <p:nvPr/>
          </p:nvSpPr>
          <p:spPr>
            <a:xfrm>
              <a:off x="2109424" y="2340726"/>
              <a:ext cx="392787" cy="1785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lang="en-US" sz="2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−11</a:t>
              </a:r>
            </a:p>
          </p:txBody>
        </p:sp>
        <p:pic>
          <p:nvPicPr>
            <p:cNvPr id="2257" name="Picture 2256">
              <a:extLst>
                <a:ext uri="{FF2B5EF4-FFF2-40B4-BE49-F238E27FC236}">
                  <a16:creationId xmlns:a16="http://schemas.microsoft.com/office/drawing/2014/main" id="{65E37A50-30E5-D3D9-90E2-7D204950CC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6"/>
            <a:srcRect l="9726"/>
            <a:stretch/>
          </p:blipFill>
          <p:spPr>
            <a:xfrm>
              <a:off x="2456821" y="709709"/>
              <a:ext cx="4276248" cy="2554445"/>
            </a:xfrm>
            <a:prstGeom prst="rect">
              <a:avLst/>
            </a:prstGeom>
          </p:spPr>
        </p:pic>
        <p:sp>
          <p:nvSpPr>
            <p:cNvPr id="2258" name="Rectangle 2257">
              <a:extLst>
                <a:ext uri="{FF2B5EF4-FFF2-40B4-BE49-F238E27FC236}">
                  <a16:creationId xmlns:a16="http://schemas.microsoft.com/office/drawing/2014/main" id="{AE895191-EA22-2785-57F1-2C6F8C9067BA}"/>
                </a:ext>
              </a:extLst>
            </p:cNvPr>
            <p:cNvSpPr/>
            <p:nvPr/>
          </p:nvSpPr>
          <p:spPr>
            <a:xfrm>
              <a:off x="2104754" y="2037146"/>
              <a:ext cx="399473" cy="1785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lang="en-US" sz="2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−10</a:t>
              </a:r>
            </a:p>
          </p:txBody>
        </p:sp>
        <p:sp>
          <p:nvSpPr>
            <p:cNvPr id="2259" name="Rectangle 2258">
              <a:extLst>
                <a:ext uri="{FF2B5EF4-FFF2-40B4-BE49-F238E27FC236}">
                  <a16:creationId xmlns:a16="http://schemas.microsoft.com/office/drawing/2014/main" id="{B4476F1F-E97D-D979-0634-8FB4E3495F34}"/>
                </a:ext>
              </a:extLst>
            </p:cNvPr>
            <p:cNvSpPr/>
            <p:nvPr/>
          </p:nvSpPr>
          <p:spPr>
            <a:xfrm>
              <a:off x="2103682" y="1735633"/>
              <a:ext cx="349666" cy="1785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lang="en-US" sz="2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−9</a:t>
              </a:r>
            </a:p>
          </p:txBody>
        </p:sp>
        <p:sp>
          <p:nvSpPr>
            <p:cNvPr id="2260" name="Rectangle 2259">
              <a:extLst>
                <a:ext uri="{FF2B5EF4-FFF2-40B4-BE49-F238E27FC236}">
                  <a16:creationId xmlns:a16="http://schemas.microsoft.com/office/drawing/2014/main" id="{7ACD0877-CFA7-AEBF-74DD-6F42B2C7E379}"/>
                </a:ext>
              </a:extLst>
            </p:cNvPr>
            <p:cNvSpPr/>
            <p:nvPr/>
          </p:nvSpPr>
          <p:spPr>
            <a:xfrm>
              <a:off x="2113818" y="1407655"/>
              <a:ext cx="349666" cy="1785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lang="en-US" sz="2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−8</a:t>
              </a:r>
            </a:p>
          </p:txBody>
        </p:sp>
        <p:sp>
          <p:nvSpPr>
            <p:cNvPr id="2261" name="Rectangle 2260">
              <a:extLst>
                <a:ext uri="{FF2B5EF4-FFF2-40B4-BE49-F238E27FC236}">
                  <a16:creationId xmlns:a16="http://schemas.microsoft.com/office/drawing/2014/main" id="{F3B0F9EF-BE66-4B76-CC90-87BCF99950C5}"/>
                </a:ext>
              </a:extLst>
            </p:cNvPr>
            <p:cNvSpPr/>
            <p:nvPr/>
          </p:nvSpPr>
          <p:spPr>
            <a:xfrm>
              <a:off x="2113818" y="1091584"/>
              <a:ext cx="349666" cy="1785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lang="en-US" sz="2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−7</a:t>
              </a:r>
            </a:p>
          </p:txBody>
        </p:sp>
        <p:sp>
          <p:nvSpPr>
            <p:cNvPr id="2262" name="TextBox 2261">
              <a:extLst>
                <a:ext uri="{FF2B5EF4-FFF2-40B4-BE49-F238E27FC236}">
                  <a16:creationId xmlns:a16="http://schemas.microsoft.com/office/drawing/2014/main" id="{2207BA53-D105-ED07-8824-9570FF0FD2BE}"/>
                </a:ext>
              </a:extLst>
            </p:cNvPr>
            <p:cNvSpPr txBox="1"/>
            <p:nvPr/>
          </p:nvSpPr>
          <p:spPr>
            <a:xfrm rot="16200000">
              <a:off x="1302712" y="1815000"/>
              <a:ext cx="1393372" cy="210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EC</a:t>
              </a:r>
              <a:r>
                <a:rPr lang="en-US" sz="20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50</a:t>
              </a:r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 (M)</a:t>
              </a:r>
            </a:p>
          </p:txBody>
        </p:sp>
      </p:grpSp>
      <p:sp>
        <p:nvSpPr>
          <p:cNvPr id="2263" name="TextBox 2262">
            <a:extLst>
              <a:ext uri="{FF2B5EF4-FFF2-40B4-BE49-F238E27FC236}">
                <a16:creationId xmlns:a16="http://schemas.microsoft.com/office/drawing/2014/main" id="{D0826AC9-C205-9D66-3C7E-59901B2B9462}"/>
              </a:ext>
            </a:extLst>
          </p:cNvPr>
          <p:cNvSpPr txBox="1"/>
          <p:nvPr/>
        </p:nvSpPr>
        <p:spPr>
          <a:xfrm>
            <a:off x="1219450" y="32801211"/>
            <a:ext cx="6633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S2C  G4C   D8C 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Y10C  S11C R12C Y13C  R14C A18C K20C K</a:t>
            </a:r>
            <a:r>
              <a:rPr lang="en-US" sz="14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21C K32C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4" name="TextBox 2263">
            <a:extLst>
              <a:ext uri="{FF2B5EF4-FFF2-40B4-BE49-F238E27FC236}">
                <a16:creationId xmlns:a16="http://schemas.microsoft.com/office/drawing/2014/main" id="{FBE6E272-FA4E-597B-54B9-993667F1B41B}"/>
              </a:ext>
            </a:extLst>
          </p:cNvPr>
          <p:cNvSpPr txBox="1"/>
          <p:nvPr/>
        </p:nvSpPr>
        <p:spPr>
          <a:xfrm>
            <a:off x="20320141" y="31111804"/>
            <a:ext cx="735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Cysteine PACAP Mutants Luminescence EC50 (n=3) </a:t>
            </a:r>
          </a:p>
        </p:txBody>
      </p:sp>
      <p:sp>
        <p:nvSpPr>
          <p:cNvPr id="2265" name="TextBox 2264">
            <a:extLst>
              <a:ext uri="{FF2B5EF4-FFF2-40B4-BE49-F238E27FC236}">
                <a16:creationId xmlns:a16="http://schemas.microsoft.com/office/drawing/2014/main" id="{48E0CBC0-AA05-0FCA-D31A-D7F50B05DFEA}"/>
              </a:ext>
            </a:extLst>
          </p:cNvPr>
          <p:cNvSpPr txBox="1"/>
          <p:nvPr/>
        </p:nvSpPr>
        <p:spPr>
          <a:xfrm>
            <a:off x="8737059" y="36306773"/>
            <a:ext cx="111456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Garamond" panose="02020404030301010803" pitchFamily="18" charset="0"/>
              </a:rPr>
              <a:t>Despite signs of cysteine truncation in E. coli expression, MALDI confirmed full-length products for select mutants.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87577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14521</TotalTime>
  <Words>729</Words>
  <Application>Microsoft Macintosh PowerPoint</Application>
  <PresentationFormat>Custom</PresentationFormat>
  <Paragraphs>89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Garamond</vt:lpstr>
      <vt:lpstr>Office 2013 - 2022 Theme</vt:lpstr>
      <vt:lpstr>CS ChemDraw Drawing</vt:lpstr>
      <vt:lpstr>Glutamate-Responsive MRI Probe Engineered via Competitive GltI Binding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Toth</dc:creator>
  <cp:lastModifiedBy>Emma Wang</cp:lastModifiedBy>
  <cp:revision>126</cp:revision>
  <cp:lastPrinted>2018-08-14T16:49:05Z</cp:lastPrinted>
  <dcterms:created xsi:type="dcterms:W3CDTF">2018-07-24T18:53:19Z</dcterms:created>
  <dcterms:modified xsi:type="dcterms:W3CDTF">2025-09-15T01:46:00Z</dcterms:modified>
</cp:coreProperties>
</file>